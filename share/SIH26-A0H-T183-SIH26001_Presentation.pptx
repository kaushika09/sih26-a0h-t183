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Arial Bold" panose="020B0704020202020204" pitchFamily="34" charset="0"/>
      <p:regular r:id="rId9"/>
      <p:bold r:id="rId10"/>
    </p:embeddedFont>
    <p:embeddedFont>
      <p:font typeface="Arimo" panose="020B0604020202020204" charset="0"/>
      <p:regular r:id="rId11"/>
    </p:embeddedFont>
    <p:embeddedFont>
      <p:font typeface="Arimo Bold" panose="020B0604020202020204" charset="0"/>
      <p:regular r:id="rId12"/>
    </p:embeddedFont>
    <p:embeddedFont>
      <p:font typeface="Calibri (MS)" panose="020B0604020202020204" charset="0"/>
      <p:regular r:id="rId13"/>
    </p:embeddedFont>
    <p:embeddedFont>
      <p:font typeface="Canva Sans" panose="020B0604020202020204" charset="0"/>
      <p:regular r:id="rId14"/>
    </p:embeddedFont>
    <p:embeddedFont>
      <p:font typeface="Canva Sans Bold" panose="020B0604020202020204" charset="0"/>
      <p:regular r:id="rId15"/>
    </p:embeddedFont>
    <p:embeddedFont>
      <p:font typeface="Garamond Bold" panose="02020804030307010803" pitchFamily="18" charset="0"/>
      <p:regular r:id="rId16"/>
      <p:bold r:id="rId17"/>
    </p:embeddedFont>
    <p:embeddedFont>
      <p:font typeface="Times New Roman Bold" panose="02020803070505020304" pitchFamily="18" charset="0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ableStyles" Target="tableStyle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85165" y="1277283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2333" y="2573817"/>
            <a:ext cx="4805267" cy="5139357"/>
            <a:chOff x="0" y="0"/>
            <a:chExt cx="6407023" cy="68524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49475" b="-1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959969" y="990067"/>
            <a:ext cx="12618720" cy="2566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endParaRPr/>
          </a:p>
          <a:p>
            <a:pPr algn="ctr">
              <a:lnSpc>
                <a:spcPts val="5759"/>
              </a:lnSpc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496929" y="-790137"/>
            <a:ext cx="15544800" cy="3114675"/>
            <a:chOff x="0" y="0"/>
            <a:chExt cx="20726400" cy="41529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400" cy="4152900"/>
            </a:xfrm>
            <a:custGeom>
              <a:avLst/>
              <a:gdLst/>
              <a:ahLst/>
              <a:cxnLst/>
              <a:rect l="l" t="t" r="r" b="b"/>
              <a:pathLst>
                <a:path w="20726400" h="41529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246" b="-4724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 dirty="0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96929" y="1995638"/>
            <a:ext cx="10543708" cy="7450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endParaRPr/>
          </a:p>
          <a:p>
            <a:pPr marL="651510" lvl="1" indent="-325755" algn="just">
              <a:lnSpc>
                <a:spcPts val="8640"/>
              </a:lnSpc>
              <a:buFont typeface="Arial"/>
              <a:buChar char="•"/>
            </a:pPr>
            <a:r>
              <a:rPr lang="en-US" sz="3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SIH26001</a:t>
            </a:r>
          </a:p>
          <a:p>
            <a:pPr marL="542925" lvl="1" indent="-271462" algn="just">
              <a:lnSpc>
                <a:spcPts val="72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AI-Based early warning and landslide Risk Monitoring System in NER</a:t>
            </a:r>
          </a:p>
          <a:p>
            <a:pPr marL="542925" lvl="1" indent="-271462" algn="just">
              <a:lnSpc>
                <a:spcPts val="72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Disaster Management</a:t>
            </a:r>
          </a:p>
          <a:p>
            <a:pPr marL="651510" lvl="1" indent="-325755" algn="just">
              <a:lnSpc>
                <a:spcPts val="8640"/>
              </a:lnSpc>
              <a:buFont typeface="Arial"/>
              <a:buChar char="•"/>
            </a:pPr>
            <a:r>
              <a:rPr lang="en-US" sz="3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Software/Hardware-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</a:p>
          <a:p>
            <a:pPr marL="669607" lvl="1" indent="-334804" algn="just">
              <a:lnSpc>
                <a:spcPts val="8879"/>
              </a:lnSpc>
              <a:buFont typeface="Arial"/>
              <a:buChar char="•"/>
            </a:pPr>
            <a:r>
              <a:rPr lang="en-US" sz="36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</a:t>
            </a:r>
            <a:r>
              <a:rPr lang="en-US" sz="36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SIH26-A0H-T183</a:t>
            </a:r>
          </a:p>
          <a:p>
            <a:pPr marL="651510" lvl="1" indent="-325755" algn="just">
              <a:lnSpc>
                <a:spcPts val="8640"/>
              </a:lnSpc>
              <a:buFont typeface="Arial"/>
              <a:buChar char="•"/>
            </a:pPr>
            <a:r>
              <a:rPr lang="en-US" sz="3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(Registered on portal)-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Byte Force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B109C1B-E1D5-2019-81B4-C19DF6E677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6804" y="477770"/>
            <a:ext cx="2941942" cy="13891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7689" y="9639898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11" name="Freeform 11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Byte Force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50578" y="-747964"/>
            <a:ext cx="16674511" cy="2384088"/>
            <a:chOff x="0" y="0"/>
            <a:chExt cx="22232682" cy="317878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232682" cy="3178783"/>
            </a:xfrm>
            <a:custGeom>
              <a:avLst/>
              <a:gdLst/>
              <a:ahLst/>
              <a:cxnLst/>
              <a:rect l="l" t="t" r="r" b="b"/>
              <a:pathLst>
                <a:path w="22232682" h="3178783">
                  <a:moveTo>
                    <a:pt x="0" y="0"/>
                  </a:moveTo>
                  <a:lnTo>
                    <a:pt x="22232682" y="0"/>
                  </a:lnTo>
                  <a:lnTo>
                    <a:pt x="22232682" y="3178783"/>
                  </a:lnTo>
                  <a:lnTo>
                    <a:pt x="0" y="317878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8563" r="1291" b="-70477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2232682" cy="32168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839"/>
                </a:lnSpc>
              </a:pPr>
              <a:endParaRPr/>
            </a:p>
            <a:p>
              <a:pPr algn="ctr">
                <a:lnSpc>
                  <a:spcPts val="5040"/>
                </a:lnSpc>
              </a:pPr>
              <a:r>
                <a:rPr lang="en-US" sz="42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AI-Based early warning and landslide Risk Monitoring</a:t>
              </a:r>
            </a:p>
            <a:p>
              <a:pPr algn="ctr">
                <a:lnSpc>
                  <a:spcPts val="5040"/>
                </a:lnSpc>
              </a:pPr>
              <a:r>
                <a:rPr lang="en-US" sz="42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System in NER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6324022" y="1590240"/>
            <a:ext cx="5802269" cy="8599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52"/>
              </a:lnSpc>
            </a:pPr>
            <a:r>
              <a:rPr lang="en-US" sz="271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HOW THE SYSTEM WORKS</a:t>
            </a:r>
          </a:p>
          <a:p>
            <a:pPr marL="484236" lvl="1" indent="-242118" algn="l">
              <a:lnSpc>
                <a:spcPts val="2691"/>
              </a:lnSpc>
              <a:buAutoNum type="arabicPeriod"/>
            </a:pPr>
            <a:r>
              <a:rPr lang="en-US" sz="2242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Collect Evidence-</a:t>
            </a:r>
            <a:r>
              <a:rPr lang="en-US" sz="224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Rainfall, soil moisture, terrain, road-network data, population/infrastructure and field reports are collected for each monitored road segment.</a:t>
            </a:r>
          </a:p>
          <a:p>
            <a:pPr marL="484236" lvl="1" indent="-242118" algn="l">
              <a:lnSpc>
                <a:spcPts val="2691"/>
              </a:lnSpc>
              <a:buAutoNum type="arabicPeriod"/>
            </a:pPr>
            <a:r>
              <a:rPr lang="en-US" sz="2242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Prepare Features-</a:t>
            </a:r>
            <a:r>
              <a:rPr lang="en-US" sz="224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incoming data is validated and converted into a segment-level feature set for prediction.</a:t>
            </a:r>
          </a:p>
          <a:p>
            <a:pPr marL="484236" lvl="1" indent="-242118" algn="l">
              <a:lnSpc>
                <a:spcPts val="2691"/>
              </a:lnSpc>
              <a:buAutoNum type="arabicPeriod"/>
            </a:pPr>
            <a:r>
              <a:rPr lang="en-US" sz="2242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Predict Risk-</a:t>
            </a:r>
            <a:r>
              <a:rPr lang="en-US" sz="224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XGBoost model estimates landslide risk for each segment and assigns a 0–100% risk score.</a:t>
            </a:r>
          </a:p>
          <a:p>
            <a:pPr marL="484236" lvl="1" indent="-242118" algn="l">
              <a:lnSpc>
                <a:spcPts val="2691"/>
              </a:lnSpc>
              <a:buAutoNum type="arabicPeriod"/>
            </a:pPr>
            <a:r>
              <a:rPr lang="en-US" sz="2242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Rank &amp; Assess Impact</a:t>
            </a:r>
            <a:r>
              <a:rPr lang="en-US" sz="224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-Segments are ranked by risk and checked for affected villages, schools, hospitals, supply routes and population.</a:t>
            </a:r>
          </a:p>
          <a:p>
            <a:pPr marL="484236" lvl="1" indent="-242118" algn="l">
              <a:lnSpc>
                <a:spcPts val="2691"/>
              </a:lnSpc>
              <a:buAutoNum type="arabicPeriod"/>
            </a:pPr>
            <a:r>
              <a:rPr lang="en-US" sz="2242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Recommend Action-</a:t>
            </a:r>
            <a:r>
              <a:rPr lang="en-US" sz="224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converts the risk level into an operational response:</a:t>
            </a:r>
          </a:p>
          <a:p>
            <a:pPr marL="484236" lvl="1" indent="-242118" algn="l">
              <a:lnSpc>
                <a:spcPts val="2691"/>
              </a:lnSpc>
              <a:buFont typeface="Arial"/>
              <a:buChar char="•"/>
            </a:pPr>
            <a:r>
              <a:rPr lang="en-US" sz="224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Critical → Immediate field inspection</a:t>
            </a:r>
          </a:p>
          <a:p>
            <a:pPr marL="484236" lvl="1" indent="-242118" algn="l">
              <a:lnSpc>
                <a:spcPts val="2691"/>
              </a:lnSpc>
              <a:buFont typeface="Arial"/>
              <a:buChar char="•"/>
            </a:pPr>
            <a:r>
              <a:rPr lang="en-US" sz="224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→ Increased monitoring</a:t>
            </a:r>
          </a:p>
          <a:p>
            <a:pPr marL="484236" lvl="1" indent="-242118" algn="l">
              <a:lnSpc>
                <a:spcPts val="2691"/>
              </a:lnSpc>
              <a:buFont typeface="Arial"/>
              <a:buChar char="•"/>
            </a:pPr>
            <a:r>
              <a:rPr lang="en-US" sz="224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Moderate → Routine monitoring</a:t>
            </a:r>
          </a:p>
          <a:p>
            <a:pPr marL="484236" lvl="1" indent="-242118" algn="l">
              <a:lnSpc>
                <a:spcPts val="2691"/>
              </a:lnSpc>
              <a:buFont typeface="Arial"/>
              <a:buChar char="•"/>
            </a:pPr>
            <a:r>
              <a:rPr lang="en-US" sz="224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→ No immediate action.</a:t>
            </a:r>
          </a:p>
          <a:p>
            <a:pPr marL="484236" lvl="1" indent="-242118" algn="l">
              <a:lnSpc>
                <a:spcPts val="2691"/>
              </a:lnSpc>
              <a:buAutoNum type="arabicPeriod"/>
            </a:pPr>
            <a:r>
              <a:rPr lang="en-US" sz="2242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Feedback</a:t>
            </a:r>
            <a:r>
              <a:rPr lang="en-US" sz="224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:New crack / deformation report → Evidence update → Risk re-scoring</a:t>
            </a:r>
          </a:p>
          <a:p>
            <a:pPr algn="l">
              <a:lnSpc>
                <a:spcPts val="2579"/>
              </a:lnSpc>
            </a:pPr>
            <a:endParaRPr lang="en-US" sz="2242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252"/>
              </a:lnSpc>
            </a:pPr>
            <a:endParaRPr lang="en-US" sz="2242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2344315" y="1592037"/>
            <a:ext cx="5872068" cy="7942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85"/>
              </a:lnSpc>
            </a:pPr>
            <a:r>
              <a:rPr lang="en-US" sz="215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 IMPLEMENTATION</a:t>
            </a:r>
          </a:p>
          <a:p>
            <a:pPr marL="436433" lvl="1" indent="-218217" algn="l">
              <a:lnSpc>
                <a:spcPts val="2425"/>
              </a:lnSpc>
              <a:buFont typeface="Arial"/>
              <a:buChar char="•"/>
            </a:pPr>
            <a:r>
              <a:rPr lang="en-US" sz="2021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Frontend</a:t>
            </a:r>
            <a:r>
              <a:rPr lang="en-US" sz="20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Next.js + React + TypeScript + Tailwind CSS</a:t>
            </a:r>
          </a:p>
          <a:p>
            <a:pPr marL="436433" lvl="1" indent="-218217" algn="l">
              <a:lnSpc>
                <a:spcPts val="2425"/>
              </a:lnSpc>
              <a:buFont typeface="Arial"/>
              <a:buChar char="•"/>
            </a:pPr>
            <a:r>
              <a:rPr lang="en-US" sz="2021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Maps:</a:t>
            </a:r>
            <a:r>
              <a:rPr lang="en-US" sz="20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Leaflet</a:t>
            </a:r>
          </a:p>
          <a:p>
            <a:pPr marL="436433" lvl="1" indent="-218217" algn="l">
              <a:lnSpc>
                <a:spcPts val="2425"/>
              </a:lnSpc>
              <a:buFont typeface="Arial"/>
              <a:buChar char="•"/>
            </a:pPr>
            <a:r>
              <a:rPr lang="en-US" sz="2021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Backend:</a:t>
            </a:r>
            <a:r>
              <a:rPr lang="en-US" sz="20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Python + FastAPI</a:t>
            </a:r>
          </a:p>
          <a:p>
            <a:pPr marL="436433" lvl="1" indent="-218217" algn="l">
              <a:lnSpc>
                <a:spcPts val="2425"/>
              </a:lnSpc>
              <a:buFont typeface="Arial"/>
              <a:buChar char="•"/>
            </a:pPr>
            <a:r>
              <a:rPr lang="en-US" sz="2021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ML</a:t>
            </a:r>
            <a:r>
              <a:rPr lang="en-US" sz="20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XGBoost + scikit-learn</a:t>
            </a:r>
          </a:p>
          <a:p>
            <a:pPr marL="436433" lvl="1" indent="-218217" algn="l">
              <a:lnSpc>
                <a:spcPts val="2425"/>
              </a:lnSpc>
              <a:buFont typeface="Arial"/>
              <a:buChar char="•"/>
            </a:pPr>
            <a:r>
              <a:rPr lang="en-US" sz="2021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Data:</a:t>
            </a:r>
            <a:r>
              <a:rPr lang="en-US" sz="20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Segment-level rainfall, soil, terrain, road &amp; field-report data</a:t>
            </a:r>
          </a:p>
          <a:p>
            <a:pPr marL="436433" lvl="1" indent="-218217" algn="l">
              <a:lnSpc>
                <a:spcPts val="2425"/>
              </a:lnSpc>
              <a:buFont typeface="Arial"/>
              <a:buChar char="•"/>
            </a:pPr>
            <a:r>
              <a:rPr lang="en-US" sz="2021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Communication: </a:t>
            </a:r>
            <a:r>
              <a:rPr lang="en-US" sz="20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REST API / JSON</a:t>
            </a:r>
          </a:p>
          <a:p>
            <a:pPr marL="436433" lvl="1" indent="-218217" algn="l">
              <a:lnSpc>
                <a:spcPts val="2425"/>
              </a:lnSpc>
              <a:buFont typeface="Arial"/>
              <a:buChar char="•"/>
            </a:pPr>
            <a:r>
              <a:rPr lang="en-US" sz="2021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Inference</a:t>
            </a:r>
            <a:r>
              <a:rPr lang="en-US" sz="20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Server-side model execution</a:t>
            </a:r>
          </a:p>
          <a:p>
            <a:pPr algn="l">
              <a:lnSpc>
                <a:spcPts val="2387"/>
              </a:lnSpc>
            </a:pPr>
            <a:endParaRPr lang="en-US" sz="202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2766"/>
              </a:lnSpc>
            </a:pPr>
            <a:r>
              <a:rPr lang="en-US" sz="230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WHAT MAKES IT DIFFERENT</a:t>
            </a:r>
          </a:p>
          <a:p>
            <a:pPr marL="436444" lvl="1" indent="-218222" algn="l">
              <a:lnSpc>
                <a:spcPts val="2425"/>
              </a:lnSpc>
              <a:buFont typeface="Arial"/>
              <a:buChar char="•"/>
            </a:pPr>
            <a:r>
              <a:rPr lang="en-US" sz="2021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Evidence-based re-scoring</a:t>
            </a:r>
            <a:r>
              <a:rPr lang="en-US" sz="20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Field observations can change the risk instead of remaining as separate reports.</a:t>
            </a:r>
          </a:p>
          <a:p>
            <a:pPr marL="436444" lvl="1" indent="-218222" algn="l">
              <a:lnSpc>
                <a:spcPts val="2425"/>
              </a:lnSpc>
              <a:buFont typeface="Arial"/>
              <a:buChar char="•"/>
            </a:pPr>
            <a:r>
              <a:rPr lang="en-US" sz="2021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Segment-level prediction</a:t>
            </a:r>
            <a:r>
              <a:rPr lang="en-US" sz="20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Risk is calculated for individual road segments, enabling targeted intervention.</a:t>
            </a:r>
          </a:p>
          <a:p>
            <a:pPr marL="436444" lvl="1" indent="-218222" algn="l">
              <a:lnSpc>
                <a:spcPts val="2425"/>
              </a:lnSpc>
              <a:buFont typeface="Arial"/>
              <a:buChar char="•"/>
            </a:pPr>
            <a:r>
              <a:rPr lang="en-US" sz="2021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Impact-aware prioritization</a:t>
            </a:r>
            <a:r>
              <a:rPr lang="en-US" sz="20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Risk is combined with infrastructure and population dependency.</a:t>
            </a:r>
          </a:p>
          <a:p>
            <a:pPr marL="436444" lvl="1" indent="-218222" algn="l">
              <a:lnSpc>
                <a:spcPts val="2425"/>
              </a:lnSpc>
              <a:buFont typeface="Arial"/>
              <a:buChar char="•"/>
            </a:pPr>
            <a:r>
              <a:rPr lang="en-US" sz="2021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Scenario simulation</a:t>
            </a:r>
            <a:r>
              <a:rPr lang="en-US" sz="20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Authorities can compare how risk changes under normal, heavy and extreme rainfall.</a:t>
            </a:r>
          </a:p>
          <a:p>
            <a:pPr marL="436444" lvl="1" indent="-218222" algn="l">
              <a:lnSpc>
                <a:spcPts val="2425"/>
              </a:lnSpc>
              <a:buFont typeface="Arial"/>
              <a:buChar char="•"/>
            </a:pPr>
            <a:r>
              <a:rPr lang="en-US" sz="2021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Explainable decision support</a:t>
            </a:r>
            <a:r>
              <a:rPr lang="en-US" sz="20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Each score is associated with contributing factors and a corresponding response level.</a:t>
            </a:r>
          </a:p>
        </p:txBody>
      </p:sp>
      <p:sp>
        <p:nvSpPr>
          <p:cNvPr id="20" name="AutoShape 20"/>
          <p:cNvSpPr/>
          <p:nvPr/>
        </p:nvSpPr>
        <p:spPr>
          <a:xfrm>
            <a:off x="6514071" y="1609290"/>
            <a:ext cx="0" cy="803060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>
            <a:off x="12344315" y="1601562"/>
            <a:ext cx="0" cy="803833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/>
          <p:cNvSpPr/>
          <p:nvPr/>
        </p:nvSpPr>
        <p:spPr>
          <a:xfrm flipV="1">
            <a:off x="76116" y="1503166"/>
            <a:ext cx="18288084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TextBox 23"/>
          <p:cNvSpPr txBox="1"/>
          <p:nvPr/>
        </p:nvSpPr>
        <p:spPr>
          <a:xfrm>
            <a:off x="0" y="1602102"/>
            <a:ext cx="6544971" cy="7932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6"/>
              </a:lnSpc>
            </a:pPr>
            <a:r>
              <a:rPr lang="en-US" sz="298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WE ARE ADDRESSING</a:t>
            </a:r>
          </a:p>
          <a:p>
            <a:pPr marL="471937" lvl="1" indent="-235968" algn="l">
              <a:lnSpc>
                <a:spcPts val="2623"/>
              </a:lnSpc>
              <a:buFont typeface="Arial"/>
              <a:buChar char="•"/>
            </a:pPr>
            <a:r>
              <a:rPr lang="en-US" sz="218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Unpredictable road failures</a:t>
            </a:r>
            <a:r>
              <a:rPr lang="en-US" sz="218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Landslides can suddenly disrupt mountain roads and isolate villages and essential facilities.</a:t>
            </a:r>
          </a:p>
          <a:p>
            <a:pPr marL="450487" lvl="1" indent="-225244" algn="l">
              <a:lnSpc>
                <a:spcPts val="2503"/>
              </a:lnSpc>
              <a:buFont typeface="Arial"/>
              <a:buChar char="•"/>
            </a:pPr>
            <a:r>
              <a:rPr lang="en-US" sz="208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Scattered evidence</a:t>
            </a:r>
            <a:r>
              <a:rPr lang="en-US" sz="208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Rainfall, soil moisture, terrain, road condition and field observations are usually considered separately.</a:t>
            </a:r>
          </a:p>
          <a:p>
            <a:pPr marL="450487" lvl="1" indent="-225244" algn="l">
              <a:lnSpc>
                <a:spcPts val="2503"/>
              </a:lnSpc>
              <a:buFont typeface="Arial"/>
              <a:buChar char="•"/>
            </a:pPr>
            <a:r>
              <a:rPr lang="en-US" sz="208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Limited prioritization:</a:t>
            </a:r>
            <a:r>
              <a:rPr lang="en-US" sz="208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Authorities need to know which road segment requires attention first, rather than only viewing raw risk data.</a:t>
            </a:r>
          </a:p>
          <a:p>
            <a:pPr marL="450487" lvl="1" indent="-225244" algn="l">
              <a:lnSpc>
                <a:spcPts val="2503"/>
              </a:lnSpc>
              <a:buFont typeface="Arial"/>
              <a:buChar char="•"/>
            </a:pPr>
            <a:r>
              <a:rPr lang="en-US" sz="208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Changing ground conditions: </a:t>
            </a:r>
            <a:r>
              <a:rPr lang="en-US" sz="208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cracks or road deformation can provide important evidence that should update the existing risk assessment.</a:t>
            </a:r>
          </a:p>
          <a:p>
            <a:pPr algn="ctr">
              <a:lnSpc>
                <a:spcPts val="3457"/>
              </a:lnSpc>
            </a:pPr>
            <a:r>
              <a:rPr lang="en-US" sz="2881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OUR SOLUTION</a:t>
            </a:r>
          </a:p>
          <a:p>
            <a:pPr marL="429036" lvl="1" indent="-214518" algn="l">
              <a:lnSpc>
                <a:spcPts val="2384"/>
              </a:lnSpc>
              <a:buFont typeface="Arial"/>
              <a:buChar char="•"/>
            </a:pPr>
            <a:r>
              <a:rPr lang="en-US" sz="198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Multi-source Evidence</a:t>
            </a:r>
            <a:r>
              <a:rPr lang="en-US" sz="198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Rainfall (24h/72h accumulation), soil moisture, slope &amp; terrain, road network, historical conditions, field hazard reports, and infrastructure data.</a:t>
            </a:r>
          </a:p>
          <a:p>
            <a:pPr marL="429036" lvl="1" indent="-214518" algn="l">
              <a:lnSpc>
                <a:spcPts val="2384"/>
              </a:lnSpc>
              <a:buFont typeface="Arial"/>
              <a:buChar char="•"/>
            </a:pPr>
            <a:r>
              <a:rPr lang="en-US" sz="198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AI-Based Risk Prediction: </a:t>
            </a:r>
            <a:r>
              <a:rPr lang="en-US" sz="198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engineering using Python / scikit-learn and an XGBoost classifier to predict risk for every monitored road segment, producing an interpretable 0–100% risk score</a:t>
            </a:r>
          </a:p>
          <a:p>
            <a:pPr marL="429036" lvl="1" indent="-214518" algn="l">
              <a:lnSpc>
                <a:spcPts val="2384"/>
              </a:lnSpc>
              <a:buFont typeface="Arial"/>
              <a:buChar char="•"/>
            </a:pPr>
            <a:r>
              <a:rPr lang="en-US" sz="198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Dynamic Re-evaluation</a:t>
            </a:r>
            <a:r>
              <a:rPr lang="en-US" sz="198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Incorporates new crack or deformation reports as evidence, recalculating risk instead of relying only on previous scores to support Normal, Heavy, and Extreme rainfall scenarios.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0A315A7-58EE-4046-6A26-C071F73FA0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9135" y="28005"/>
            <a:ext cx="2941942" cy="13891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906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Byte Force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386131" y="1604293"/>
            <a:ext cx="11719910" cy="7355887"/>
          </a:xfrm>
          <a:custGeom>
            <a:avLst/>
            <a:gdLst/>
            <a:ahLst/>
            <a:cxnLst/>
            <a:rect l="l" t="t" r="r" b="b"/>
            <a:pathLst>
              <a:path w="11719910" h="7355887">
                <a:moveTo>
                  <a:pt x="0" y="0"/>
                </a:moveTo>
                <a:lnTo>
                  <a:pt x="11719910" y="0"/>
                </a:lnTo>
                <a:lnTo>
                  <a:pt x="11719910" y="7355887"/>
                </a:lnTo>
                <a:lnTo>
                  <a:pt x="0" y="73558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06" r="-506"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1778301" y="1624012"/>
            <a:ext cx="6509699" cy="7336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8904" lvl="1" indent="-229452" algn="l">
              <a:lnSpc>
                <a:spcPts val="2550"/>
              </a:lnSpc>
              <a:buFont typeface="Arial"/>
              <a:buChar char="•"/>
            </a:pPr>
            <a:r>
              <a:rPr lang="en-US" sz="2125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Technologies to be used:</a:t>
            </a:r>
            <a:r>
              <a:rPr lang="en-US" sz="212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Python, </a:t>
            </a:r>
            <a:r>
              <a:rPr lang="en-US" sz="2125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FastAPI</a:t>
            </a:r>
            <a:r>
              <a:rPr lang="en-US" sz="212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125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XGBoost</a:t>
            </a:r>
            <a:r>
              <a:rPr lang="en-US" sz="212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scikit-learn, Next.js, React + TypeScript, Tailwind CSS and Leaflet for the web-based prototype.</a:t>
            </a:r>
          </a:p>
          <a:p>
            <a:pPr marL="458904" lvl="1" indent="-229452" algn="l">
              <a:lnSpc>
                <a:spcPts val="2550"/>
              </a:lnSpc>
              <a:buFont typeface="Arial"/>
              <a:buChar char="•"/>
            </a:pPr>
            <a:r>
              <a:rPr lang="en-US" sz="2125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&amp; Processing:</a:t>
            </a:r>
            <a:r>
              <a:rPr lang="en-US" sz="212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Rainfall, soil moisture, terrain/slope, road-network, field-hazard reports and population/infrastructure data are combined and validated for each monitored road segment.</a:t>
            </a:r>
          </a:p>
          <a:p>
            <a:pPr marL="458904" lvl="1" indent="-229452" algn="l">
              <a:lnSpc>
                <a:spcPts val="2550"/>
              </a:lnSpc>
              <a:buFont typeface="Arial"/>
              <a:buChar char="•"/>
            </a:pPr>
            <a:r>
              <a:rPr lang="en-US" sz="2125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AI/ML Risk Prediction:</a:t>
            </a:r>
            <a:r>
              <a:rPr lang="en-US" sz="212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Engineered features are passed to an </a:t>
            </a:r>
            <a:r>
              <a:rPr lang="en-US" sz="2125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XGBoost</a:t>
            </a:r>
            <a:r>
              <a:rPr lang="en-US" sz="212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classifier to generate a 0–100% landslide risk score and classify segments as Low, Moderate, High or Critical.</a:t>
            </a:r>
          </a:p>
          <a:p>
            <a:pPr marL="458904" lvl="1" indent="-229452" algn="l">
              <a:lnSpc>
                <a:spcPts val="2550"/>
              </a:lnSpc>
              <a:buFont typeface="Arial"/>
              <a:buChar char="•"/>
            </a:pPr>
            <a:r>
              <a:rPr lang="en-US" sz="2125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Risk &amp; Impact Analysis: </a:t>
            </a:r>
            <a:r>
              <a:rPr lang="en-US" sz="212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Segments are ranked by risk, while road failure impact is evaluated using connected villages, hospitals, schools, supply routes and potentially isolated population.</a:t>
            </a:r>
          </a:p>
          <a:p>
            <a:pPr marL="458904" lvl="1" indent="-229452" algn="l">
              <a:lnSpc>
                <a:spcPts val="2550"/>
              </a:lnSpc>
              <a:buFont typeface="Arial"/>
              <a:buChar char="•"/>
            </a:pPr>
            <a:r>
              <a:rPr lang="en-US" sz="2125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Dynamic Re-evaluation:</a:t>
            </a:r>
            <a:r>
              <a:rPr lang="en-US" sz="212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Normal, Heavy and Extreme rainfall scenarios can re-run the model. New field reports such as cracks or road deformation are added as evidence and trigger risk re-scoring.</a:t>
            </a:r>
          </a:p>
          <a:p>
            <a:pPr marL="458904" lvl="1" indent="-229452" algn="l">
              <a:lnSpc>
                <a:spcPts val="2550"/>
              </a:lnSpc>
              <a:buFont typeface="Arial"/>
              <a:buChar char="•"/>
            </a:pPr>
            <a:r>
              <a:rPr lang="en-US" sz="2125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Decision Support:</a:t>
            </a:r>
            <a:r>
              <a:rPr lang="en-US" sz="212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Risk levels are converted into practical responses such as immediate field inspection, increased monitoring, routine monitoring or no immediate action.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35BD6A4-7A87-8087-164C-4FFC90B33F0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400" y="91247"/>
            <a:ext cx="2941942" cy="13891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Byte Force</a:t>
              </a:r>
            </a:p>
          </p:txBody>
        </p:sp>
      </p:grpSp>
      <p:graphicFrame>
        <p:nvGraphicFramePr>
          <p:cNvPr id="18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3917996"/>
              </p:ext>
            </p:extLst>
          </p:nvPr>
        </p:nvGraphicFramePr>
        <p:xfrm>
          <a:off x="349718" y="1769955"/>
          <a:ext cx="17785882" cy="5978966"/>
        </p:xfrm>
        <a:graphic>
          <a:graphicData uri="http://schemas.openxmlformats.org/drawingml/2006/table">
            <a:tbl>
              <a:tblPr/>
              <a:tblGrid>
                <a:gridCol w="26885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99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434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4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1075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6331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6331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595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595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3329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Box 19"/>
          <p:cNvSpPr txBox="1"/>
          <p:nvPr/>
        </p:nvSpPr>
        <p:spPr>
          <a:xfrm>
            <a:off x="1028700" y="1797916"/>
            <a:ext cx="1403509" cy="69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460"/>
              </a:lnSpc>
            </a:pPr>
            <a:r>
              <a:rPr lang="en-US" sz="39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AREA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39739" y="1797916"/>
            <a:ext cx="3193137" cy="69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460"/>
              </a:lnSpc>
            </a:pPr>
            <a:r>
              <a:rPr lang="en-US" sz="39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471588" y="1797916"/>
            <a:ext cx="1992509" cy="6462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460"/>
              </a:lnSpc>
            </a:pPr>
            <a:r>
              <a:rPr lang="en-US" sz="39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RISK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662184" y="1797916"/>
            <a:ext cx="3155633" cy="69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460"/>
              </a:lnSpc>
            </a:pPr>
            <a:r>
              <a:rPr lang="en-US" sz="39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MITIGATION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87463" y="2756130"/>
            <a:ext cx="2249601" cy="687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6"/>
              </a:lnSpc>
              <a:spcBef>
                <a:spcPct val="0"/>
              </a:spcBef>
            </a:pPr>
            <a:r>
              <a:rPr lang="en-US" sz="434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43178" y="3907950"/>
            <a:ext cx="1583803" cy="7412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sz="45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-1882133" y="5102809"/>
            <a:ext cx="7225176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84"/>
              </a:lnSpc>
              <a:spcBef>
                <a:spcPct val="0"/>
              </a:spcBef>
            </a:pPr>
            <a:r>
              <a:rPr lang="en-US" sz="365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Operational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9708" y="6065826"/>
            <a:ext cx="328149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85"/>
              </a:lnSpc>
              <a:spcBef>
                <a:spcPct val="0"/>
              </a:spcBef>
            </a:pPr>
            <a:r>
              <a:rPr lang="en-US" sz="298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Infrastructure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31283" y="6904026"/>
            <a:ext cx="2361962" cy="57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Deployment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040407" y="2771501"/>
            <a:ext cx="5424266" cy="722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5"/>
              </a:lnSpc>
            </a:pPr>
            <a:r>
              <a:rPr lang="en-US" sz="16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Python, </a:t>
            </a:r>
            <a:r>
              <a:rPr lang="en-US" sz="16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FastAPI</a:t>
            </a:r>
            <a:r>
              <a:rPr lang="en-US" sz="16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XGBoost</a:t>
            </a:r>
            <a:r>
              <a:rPr lang="en-US" sz="16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and scikit-learn </a:t>
            </a:r>
          </a:p>
          <a:p>
            <a:pPr algn="ctr">
              <a:lnSpc>
                <a:spcPts val="2925"/>
              </a:lnSpc>
            </a:pPr>
            <a:r>
              <a:rPr lang="en-US" sz="16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support the complete risk-scoring pipeline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040407" y="3846566"/>
            <a:ext cx="5658578" cy="978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6"/>
              </a:lnSpc>
            </a:pPr>
            <a:r>
              <a:rPr lang="en-US" sz="1868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Rainfall, soil moisture, terrain, road-network, </a:t>
            </a:r>
            <a:r>
              <a:rPr lang="en-US" sz="1868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fieldreports</a:t>
            </a:r>
            <a:r>
              <a:rPr lang="en-US" sz="1868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and population data can be</a:t>
            </a:r>
          </a:p>
          <a:p>
            <a:pPr algn="ctr">
              <a:lnSpc>
                <a:spcPts val="2616"/>
              </a:lnSpc>
            </a:pPr>
            <a:r>
              <a:rPr lang="en-US" sz="1868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combined per road segment.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040407" y="4976688"/>
            <a:ext cx="5791314" cy="751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9"/>
              </a:lnSpc>
            </a:pPr>
            <a:r>
              <a:rPr lang="en-US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Field officers can submit cracks and road </a:t>
            </a:r>
          </a:p>
          <a:p>
            <a:pPr algn="ctr">
              <a:lnSpc>
                <a:spcPts val="3009"/>
              </a:lnSpc>
            </a:pPr>
            <a:r>
              <a:rPr lang="en-US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deformation as new evidence for re-scoring.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28700" y="5976112"/>
            <a:ext cx="9872109" cy="691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sz="196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Prototype runs through a FastAPI backend with</a:t>
            </a:r>
          </a:p>
          <a:p>
            <a:pPr algn="ctr">
              <a:lnSpc>
                <a:spcPts val="2750"/>
              </a:lnSpc>
            </a:pPr>
            <a:r>
              <a:rPr lang="en-US" sz="196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 web-based interface and server side inference.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142709" y="6850419"/>
            <a:ext cx="5689012" cy="806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3"/>
              </a:lnSpc>
            </a:pPr>
            <a:r>
              <a:rPr lang="en-US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Browser-based system can be accessed</a:t>
            </a:r>
          </a:p>
          <a:p>
            <a:pPr algn="ctr">
              <a:lnSpc>
                <a:spcPts val="3283"/>
              </a:lnSpc>
            </a:pPr>
            <a:r>
              <a:rPr lang="en-US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by </a:t>
            </a:r>
            <a:r>
              <a:rPr lang="en-US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authorised</a:t>
            </a:r>
            <a:r>
              <a:rPr lang="en-US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users over a network.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147962" y="2583304"/>
            <a:ext cx="3505694" cy="1099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6"/>
              </a:lnSpc>
            </a:pPr>
            <a:r>
              <a:rPr lang="en-US" sz="2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Model accuracy </a:t>
            </a:r>
          </a:p>
          <a:p>
            <a:pPr algn="ctr">
              <a:lnSpc>
                <a:spcPts val="2946"/>
              </a:lnSpc>
            </a:pPr>
            <a:r>
              <a:rPr lang="en-US" sz="2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depends on quality and </a:t>
            </a:r>
          </a:p>
          <a:p>
            <a:pPr algn="ctr">
              <a:lnSpc>
                <a:spcPts val="2946"/>
              </a:lnSpc>
            </a:pPr>
            <a:r>
              <a:rPr lang="en-US" sz="2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availability of training data.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012410" y="3846566"/>
            <a:ext cx="3776799" cy="908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7"/>
              </a:lnSpc>
            </a:pPr>
            <a:r>
              <a:rPr lang="en-US" sz="2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Missing or inconsistent </a:t>
            </a:r>
          </a:p>
          <a:p>
            <a:pPr algn="ctr">
              <a:lnSpc>
                <a:spcPts val="3677"/>
              </a:lnSpc>
            </a:pPr>
            <a:r>
              <a:rPr lang="en-US" sz="2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field/sensor data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789209" y="4037027"/>
            <a:ext cx="5240981" cy="717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3"/>
              </a:lnSpc>
            </a:pPr>
            <a:r>
              <a:rPr lang="en-US" sz="204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 validation, range checks and</a:t>
            </a:r>
          </a:p>
          <a:p>
            <a:pPr algn="ctr">
              <a:lnSpc>
                <a:spcPts val="2863"/>
              </a:lnSpc>
            </a:pPr>
            <a:r>
              <a:rPr lang="en-US" sz="204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missing-value handling before prediction.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831722" y="6840894"/>
            <a:ext cx="3856818" cy="917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7"/>
              </a:lnSpc>
            </a:pPr>
            <a:r>
              <a:rPr lang="en-US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Connectivity may be</a:t>
            </a:r>
          </a:p>
          <a:p>
            <a:pPr algn="ctr">
              <a:lnSpc>
                <a:spcPts val="3677"/>
              </a:lnSpc>
            </a:pPr>
            <a:r>
              <a:rPr lang="en-US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limited in remote areas</a:t>
            </a:r>
            <a:r>
              <a:rPr lang="en-US" sz="262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967274" y="5023743"/>
            <a:ext cx="3821935" cy="729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5"/>
              </a:lnSpc>
            </a:pPr>
            <a:r>
              <a:rPr lang="en-US" sz="21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Delayed or incorrect field </a:t>
            </a:r>
          </a:p>
          <a:p>
            <a:pPr algn="ctr">
              <a:lnSpc>
                <a:spcPts val="2955"/>
              </a:lnSpc>
            </a:pPr>
            <a:r>
              <a:rPr lang="en-US" sz="21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reports may affect risk scores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789207" y="5924008"/>
            <a:ext cx="5286489" cy="90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16"/>
              </a:lnSpc>
            </a:pPr>
            <a:r>
              <a:rPr lang="en-US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Modular architecture allows </a:t>
            </a:r>
          </a:p>
          <a:p>
            <a:pPr algn="ctr">
              <a:lnSpc>
                <a:spcPts val="2416"/>
              </a:lnSpc>
            </a:pPr>
            <a:r>
              <a:rPr lang="en-US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additional road segments, data </a:t>
            </a:r>
          </a:p>
          <a:p>
            <a:pPr algn="ctr">
              <a:lnSpc>
                <a:spcPts val="2416"/>
              </a:lnSpc>
            </a:pPr>
            <a:r>
              <a:rPr lang="en-US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sources and databases to be added.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961340" y="6010550"/>
            <a:ext cx="3827868" cy="706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6"/>
              </a:lnSpc>
            </a:pPr>
            <a:r>
              <a:rPr lang="en-US" sz="201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Scaling from simulated district </a:t>
            </a:r>
          </a:p>
          <a:p>
            <a:pPr algn="ctr">
              <a:lnSpc>
                <a:spcPts val="2816"/>
              </a:lnSpc>
            </a:pPr>
            <a:r>
              <a:rPr lang="en-US" sz="201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 to larger real datasets.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464097" y="5057924"/>
            <a:ext cx="6133285" cy="72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4"/>
              </a:lnSpc>
            </a:pPr>
            <a:r>
              <a:rPr lang="en-US" sz="20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Standardised reporting fields, severity selection and optional photo evidence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653656" y="2584680"/>
            <a:ext cx="4971057" cy="1181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6"/>
              </a:lnSpc>
            </a:pPr>
            <a:r>
              <a:rPr lang="en-US" sz="226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Validate with real field-labelled landslide data as the system is deployed.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2789209" y="6892169"/>
            <a:ext cx="5215472" cy="713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4"/>
              </a:lnSpc>
            </a:pPr>
            <a:r>
              <a:rPr lang="en-US" sz="2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Keep inference server-side and design</a:t>
            </a:r>
          </a:p>
          <a:p>
            <a:pPr algn="ctr">
              <a:lnSpc>
                <a:spcPts val="2844"/>
              </a:lnSpc>
            </a:pPr>
            <a:r>
              <a:rPr lang="en-US" sz="2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the system for lightweight data exchange</a:t>
            </a:r>
            <a:r>
              <a:rPr lang="en-US" sz="2032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0" y="7758446"/>
            <a:ext cx="17811205" cy="1781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9526" lvl="1" indent="-369763" algn="l">
              <a:lnSpc>
                <a:spcPts val="4795"/>
              </a:lnSpc>
              <a:buFont typeface="Arial"/>
              <a:buChar char="•"/>
            </a:pPr>
            <a:r>
              <a:rPr lang="en-US" sz="3425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Built as a working prototype with simulated district data, the system is technically feasible and designed to scale toward real-world deployment after validation with locally labelled data.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FD5A0138-5A64-B48A-72E0-D164BC0042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69263" y="66045"/>
            <a:ext cx="2941942" cy="13891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92866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Byte Force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64043" y="2077641"/>
            <a:ext cx="6579479" cy="7096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98"/>
              </a:lnSpc>
            </a:pPr>
            <a:r>
              <a:rPr lang="en-US" sz="341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SOCIAL IMPACT</a:t>
            </a:r>
          </a:p>
          <a:p>
            <a:pPr algn="ctr">
              <a:lnSpc>
                <a:spcPts val="3048"/>
              </a:lnSpc>
            </a:pPr>
            <a:endParaRPr lang="en-US" sz="3415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3048"/>
              </a:lnSpc>
            </a:pPr>
            <a:endParaRPr lang="en-US" sz="3415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3000"/>
              </a:lnSpc>
            </a:pPr>
            <a:r>
              <a:rPr lang="en-US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➢ Earlier identification of risky road segments helps authorities act before landslides disrupt connectivity.</a:t>
            </a:r>
          </a:p>
          <a:p>
            <a:pPr algn="l">
              <a:lnSpc>
                <a:spcPts val="3000"/>
              </a:lnSpc>
            </a:pPr>
            <a:endParaRPr lang="en-US" sz="2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000"/>
              </a:lnSpc>
            </a:pPr>
            <a:r>
              <a:rPr lang="en-US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➢ Protects access to villages and essential facilities by highlighting roads that may affect hospitals, schools and supply routes.</a:t>
            </a:r>
          </a:p>
          <a:p>
            <a:pPr algn="l">
              <a:lnSpc>
                <a:spcPts val="3000"/>
              </a:lnSpc>
            </a:pPr>
            <a:endParaRPr lang="en-US" sz="2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000"/>
              </a:lnSpc>
            </a:pPr>
            <a:r>
              <a:rPr lang="en-US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➢ Clear risk prioritization helps field teams focus on high-risk locations instead of inspecting every road equally.</a:t>
            </a:r>
          </a:p>
          <a:p>
            <a:pPr algn="l">
              <a:lnSpc>
                <a:spcPts val="3000"/>
              </a:lnSpc>
            </a:pPr>
            <a:endParaRPr lang="en-US" sz="2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000"/>
              </a:lnSpc>
            </a:pPr>
            <a:r>
              <a:rPr lang="en-US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➢ Better decision support through explainable risk scores and contributing factors</a:t>
            </a:r>
            <a:r>
              <a:rPr lang="en-US" sz="25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.</a:t>
            </a:r>
          </a:p>
          <a:p>
            <a:pPr algn="ctr">
              <a:lnSpc>
                <a:spcPts val="3721"/>
              </a:lnSpc>
              <a:spcBef>
                <a:spcPct val="0"/>
              </a:spcBef>
            </a:pPr>
            <a:endParaRPr lang="en-US" sz="2500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0" y="1907381"/>
            <a:ext cx="1299491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TextBox 20"/>
          <p:cNvSpPr txBox="1"/>
          <p:nvPr/>
        </p:nvSpPr>
        <p:spPr>
          <a:xfrm>
            <a:off x="5936240" y="2068116"/>
            <a:ext cx="7651017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23"/>
              </a:lnSpc>
              <a:spcBef>
                <a:spcPct val="0"/>
              </a:spcBef>
            </a:pPr>
            <a:r>
              <a:rPr lang="en-US" sz="351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ECONOMIC BENEFITS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953073" y="2782491"/>
            <a:ext cx="6153327" cy="669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79"/>
              </a:lnSpc>
            </a:pPr>
            <a:endParaRPr/>
          </a:p>
          <a:p>
            <a:pPr algn="just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➢ Reduces avoidable disruption by prioritizing inspection and preventive action on vulnerable road segments.</a:t>
            </a:r>
          </a:p>
          <a:p>
            <a:pPr algn="just">
              <a:lnSpc>
                <a:spcPts val="2999"/>
              </a:lnSpc>
              <a:spcBef>
                <a:spcPct val="0"/>
              </a:spcBef>
            </a:pPr>
            <a:endParaRPr lang="en-US" sz="24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➢ Improves allocation of field resources by ranking roads according to predicted risk and potential impact</a:t>
            </a:r>
          </a:p>
          <a:p>
            <a:pPr algn="just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just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➢ Supports faster response planning using rainfall, terrain, soil and road-condition data together.</a:t>
            </a:r>
          </a:p>
          <a:p>
            <a:pPr algn="just">
              <a:lnSpc>
                <a:spcPts val="2999"/>
              </a:lnSpc>
              <a:spcBef>
                <a:spcPct val="0"/>
              </a:spcBef>
            </a:pPr>
            <a:endParaRPr lang="en-US" sz="24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➢ Reusable system architecture can be extended to additional road networks and districts without redesigning the complete workflow.</a:t>
            </a:r>
          </a:p>
          <a:p>
            <a:pPr algn="ctr">
              <a:lnSpc>
                <a:spcPts val="2941"/>
              </a:lnSpc>
              <a:spcBef>
                <a:spcPct val="0"/>
              </a:spcBef>
            </a:pPr>
            <a:endParaRPr lang="en-US" sz="24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3446470" y="2021681"/>
            <a:ext cx="4696165" cy="903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2"/>
              </a:lnSpc>
            </a:pPr>
            <a:r>
              <a:rPr lang="en-US" sz="291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ENVIRONMENTAL AND</a:t>
            </a:r>
          </a:p>
          <a:p>
            <a:pPr algn="ctr">
              <a:lnSpc>
                <a:spcPts val="3502"/>
              </a:lnSpc>
              <a:spcBef>
                <a:spcPct val="0"/>
              </a:spcBef>
            </a:pPr>
            <a:r>
              <a:rPr lang="en-US" sz="291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GOVERNANCE BENEFITS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446470" y="2868216"/>
            <a:ext cx="4778826" cy="705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6"/>
              </a:lnSpc>
            </a:pPr>
            <a:endParaRPr/>
          </a:p>
          <a:p>
            <a:pPr algn="l">
              <a:lnSpc>
                <a:spcPts val="2927"/>
              </a:lnSpc>
            </a:pPr>
            <a:r>
              <a:rPr lang="en-US" sz="243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➢ Data-driven monitoring combines rainfall, soil moisture, terrain and field observations instead of relying on a single indicator.</a:t>
            </a:r>
          </a:p>
          <a:p>
            <a:pPr algn="l">
              <a:lnSpc>
                <a:spcPts val="2927"/>
              </a:lnSpc>
            </a:pPr>
            <a:endParaRPr lang="en-US" sz="243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2927"/>
              </a:lnSpc>
            </a:pPr>
            <a:r>
              <a:rPr lang="en-US" sz="243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➢ Dynamic risk updates allow new crack or road-deformation reports to influence the existing assessment.</a:t>
            </a:r>
          </a:p>
          <a:p>
            <a:pPr algn="l">
              <a:lnSpc>
                <a:spcPts val="2927"/>
              </a:lnSpc>
            </a:pPr>
            <a:endParaRPr lang="en-US" sz="243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2927"/>
              </a:lnSpc>
            </a:pPr>
            <a:r>
              <a:rPr lang="en-US" sz="243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➢ Scenario analysis helps authorities compare risk under normal, heavy and extreme rainfall conditions.</a:t>
            </a:r>
          </a:p>
          <a:p>
            <a:pPr algn="l">
              <a:lnSpc>
                <a:spcPts val="2927"/>
              </a:lnSpc>
            </a:pPr>
            <a:endParaRPr lang="en-US" sz="243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2927"/>
              </a:lnSpc>
            </a:pPr>
            <a:r>
              <a:rPr lang="en-US" sz="243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➢ Transparent decisions through segment-level risk scores, contributing factors and traceable field evidence.</a:t>
            </a:r>
          </a:p>
          <a:p>
            <a:pPr algn="ctr">
              <a:lnSpc>
                <a:spcPts val="2927"/>
              </a:lnSpc>
              <a:spcBef>
                <a:spcPct val="0"/>
              </a:spcBef>
            </a:pPr>
            <a:endParaRPr lang="en-US" sz="243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12994911" y="1907381"/>
            <a:ext cx="529308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AutoShape 25"/>
          <p:cNvSpPr/>
          <p:nvPr/>
        </p:nvSpPr>
        <p:spPr>
          <a:xfrm>
            <a:off x="6743523" y="1907381"/>
            <a:ext cx="0" cy="75711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AutoShape 26"/>
          <p:cNvSpPr/>
          <p:nvPr/>
        </p:nvSpPr>
        <p:spPr>
          <a:xfrm flipV="1">
            <a:off x="13291041" y="1877660"/>
            <a:ext cx="0" cy="774808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5401479-A9A5-6BE5-033B-B50ECAC52A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06600" y="152134"/>
            <a:ext cx="2941942" cy="13891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55020" y="1546622"/>
            <a:ext cx="16977960" cy="836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. Landslide &amp; Risk Research</a:t>
            </a:r>
          </a:p>
          <a:p>
            <a:pPr marL="526274" lvl="1" indent="-263137" algn="just">
              <a:lnSpc>
                <a:spcPts val="2925"/>
              </a:lnSpc>
              <a:buFont typeface="Arial"/>
              <a:buChar char="•"/>
            </a:pPr>
            <a:r>
              <a:rPr lang="en-US" sz="24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Data-Driven Landslide Nowcasting at the Global Scale — Frontiers in Earth Science</a:t>
            </a:r>
          </a:p>
          <a:p>
            <a:pPr marL="526274" lvl="1" indent="-263137" algn="just">
              <a:lnSpc>
                <a:spcPts val="2925"/>
              </a:lnSpc>
              <a:buFont typeface="Arial"/>
              <a:buChar char="•"/>
            </a:pPr>
            <a:r>
              <a:rPr lang="en-US" sz="24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learning-based rainfall-induced landslide susceptibility model and short-term early warning assessment — Landslides, 2025</a:t>
            </a:r>
          </a:p>
          <a:p>
            <a:pPr marL="526274" lvl="1" indent="-263137" algn="just">
              <a:lnSpc>
                <a:spcPts val="2925"/>
              </a:lnSpc>
              <a:buFont typeface="Arial"/>
              <a:buChar char="•"/>
            </a:pPr>
            <a:r>
              <a:rPr lang="en-US" sz="24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on machine learning forecasting and early warning model for rainfall-induced landslides — Scientific Reports</a:t>
            </a:r>
          </a:p>
          <a:p>
            <a:pPr algn="just">
              <a:lnSpc>
                <a:spcPts val="2925"/>
              </a:lnSpc>
            </a:pPr>
            <a:endParaRPr lang="en-US" sz="243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lang="en-US" sz="2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Northeast India / NER Context</a:t>
            </a:r>
          </a:p>
          <a:p>
            <a:pPr marL="526274" lvl="1" indent="-263137" algn="just">
              <a:lnSpc>
                <a:spcPts val="2925"/>
              </a:lnSpc>
              <a:buFont typeface="Arial"/>
              <a:buChar char="•"/>
            </a:pPr>
            <a:r>
              <a:rPr lang="en-US" sz="24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on rainfall-induced landslides and landslide susceptibility in Northeast India</a:t>
            </a:r>
          </a:p>
          <a:p>
            <a:pPr marL="526274" lvl="1" indent="-263137" algn="just">
              <a:lnSpc>
                <a:spcPts val="2925"/>
              </a:lnSpc>
              <a:buFont typeface="Arial"/>
              <a:buChar char="•"/>
            </a:pPr>
            <a:r>
              <a:rPr lang="en-US" sz="24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Geological Survey of India (GSI) — landslide susceptibility and landslide-related geospatial information</a:t>
            </a:r>
          </a:p>
          <a:p>
            <a:pPr algn="just">
              <a:lnSpc>
                <a:spcPts val="2925"/>
              </a:lnSpc>
            </a:pPr>
            <a:endParaRPr lang="en-US" sz="243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lang="en-US" sz="2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Machine Learning / Implementation</a:t>
            </a:r>
          </a:p>
          <a:p>
            <a:pPr marL="526274" lvl="1" indent="-263137" algn="just">
              <a:lnSpc>
                <a:spcPts val="2925"/>
              </a:lnSpc>
              <a:buFont typeface="Arial"/>
              <a:buChar char="•"/>
            </a:pPr>
            <a:r>
              <a:rPr lang="en-US" sz="24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XGBoost — gradient-boosted decision tree framework used for risk classification</a:t>
            </a:r>
          </a:p>
          <a:p>
            <a:pPr marL="526274" lvl="1" indent="-263137" algn="just">
              <a:lnSpc>
                <a:spcPts val="2925"/>
              </a:lnSpc>
              <a:buFont typeface="Arial"/>
              <a:buChar char="•"/>
            </a:pPr>
            <a:r>
              <a:rPr lang="en-US" sz="24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scikit-learn — preprocessing and machine-learning utilities</a:t>
            </a:r>
          </a:p>
          <a:p>
            <a:pPr marL="526274" lvl="1" indent="-263137" algn="just">
              <a:lnSpc>
                <a:spcPts val="2925"/>
              </a:lnSpc>
              <a:buFont typeface="Arial"/>
              <a:buChar char="•"/>
            </a:pPr>
            <a:r>
              <a:rPr lang="en-US" sz="24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FastAPI — backend API implementation</a:t>
            </a:r>
          </a:p>
          <a:p>
            <a:pPr marL="526274" lvl="1" indent="-263137" algn="just">
              <a:lnSpc>
                <a:spcPts val="2925"/>
              </a:lnSpc>
              <a:buFont typeface="Arial"/>
              <a:buChar char="•"/>
            </a:pPr>
            <a:r>
              <a:rPr lang="en-US" sz="24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Leaflet — web-based geographic visualization</a:t>
            </a:r>
          </a:p>
          <a:p>
            <a:pPr marL="526274" lvl="1" indent="-263137" algn="just">
              <a:lnSpc>
                <a:spcPts val="2925"/>
              </a:lnSpc>
              <a:buFont typeface="Arial"/>
              <a:buChar char="•"/>
            </a:pPr>
            <a:endParaRPr lang="en-US" sz="243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</a:t>
            </a:r>
            <a:r>
              <a:rPr lang="en-US" sz="2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Supporting Technical Documentation</a:t>
            </a:r>
          </a:p>
          <a:p>
            <a:pPr marL="526274" lvl="1" indent="-263137" algn="just">
              <a:lnSpc>
                <a:spcPts val="2925"/>
              </a:lnSpc>
              <a:buFont typeface="Arial"/>
              <a:buChar char="•"/>
            </a:pPr>
            <a:r>
              <a:rPr lang="en-US" sz="24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XGBoost official documentation</a:t>
            </a:r>
          </a:p>
          <a:p>
            <a:pPr marL="526274" lvl="1" indent="-263137" algn="just">
              <a:lnSpc>
                <a:spcPts val="2925"/>
              </a:lnSpc>
              <a:buFont typeface="Arial"/>
              <a:buChar char="•"/>
            </a:pPr>
            <a:r>
              <a:rPr lang="en-US" sz="24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scikit-learn official documentation</a:t>
            </a:r>
          </a:p>
          <a:p>
            <a:pPr marL="526274" lvl="1" indent="-263137" algn="just">
              <a:lnSpc>
                <a:spcPts val="2925"/>
              </a:lnSpc>
              <a:buFont typeface="Arial"/>
              <a:buChar char="•"/>
            </a:pPr>
            <a:r>
              <a:rPr lang="en-US" sz="24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FastAPI official documentation</a:t>
            </a:r>
          </a:p>
          <a:p>
            <a:pPr marL="526274" lvl="1" indent="-263137" algn="just">
              <a:lnSpc>
                <a:spcPts val="2925"/>
              </a:lnSpc>
              <a:buFont typeface="Arial"/>
              <a:buChar char="•"/>
            </a:pPr>
            <a:r>
              <a:rPr lang="en-US" sz="24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Leaflet official documentation</a:t>
            </a:r>
          </a:p>
          <a:p>
            <a:pPr algn="just">
              <a:lnSpc>
                <a:spcPts val="2813"/>
              </a:lnSpc>
            </a:pPr>
            <a:endParaRPr lang="en-US" sz="243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15" name="Freeform 15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Byte Force</a:t>
              </a: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1881C8B2-95E5-858F-1C81-E406CD05AC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6804" y="477770"/>
            <a:ext cx="2941942" cy="13891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7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28575" y="2657970"/>
            <a:ext cx="18345150" cy="6535950"/>
            <a:chOff x="0" y="0"/>
            <a:chExt cx="24460200" cy="8714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460200" cy="8714613"/>
            </a:xfrm>
            <a:custGeom>
              <a:avLst/>
              <a:gdLst/>
              <a:ahLst/>
              <a:cxnLst/>
              <a:rect l="l" t="t" r="r" b="b"/>
              <a:pathLst>
                <a:path w="24460200" h="8714613">
                  <a:moveTo>
                    <a:pt x="1452499" y="0"/>
                  </a:moveTo>
                  <a:lnTo>
                    <a:pt x="24460200" y="0"/>
                  </a:lnTo>
                  <a:lnTo>
                    <a:pt x="24460200" y="7262114"/>
                  </a:lnTo>
                  <a:cubicBezTo>
                    <a:pt x="24460200" y="8064246"/>
                    <a:pt x="23809961" y="8714613"/>
                    <a:pt x="23007701" y="8714613"/>
                  </a:cubicBezTo>
                  <a:lnTo>
                    <a:pt x="0" y="8714613"/>
                  </a:lnTo>
                  <a:lnTo>
                    <a:pt x="0" y="1452499"/>
                  </a:lnTo>
                  <a:cubicBezTo>
                    <a:pt x="0" y="650240"/>
                    <a:pt x="650240" y="0"/>
                    <a:pt x="1452499" y="0"/>
                  </a:cubicBezTo>
                  <a:close/>
                </a:path>
              </a:pathLst>
            </a:custGeom>
            <a:solidFill>
              <a:srgbClr val="DCE6F2"/>
            </a:solidFill>
            <a:ln w="57150" cap="sq">
              <a:solidFill>
                <a:srgbClr val="4A7EBB"/>
              </a:solidFill>
              <a:prstDash val="solid"/>
              <a:miter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643176" y="2928404"/>
            <a:ext cx="17464249" cy="6004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8632" lvl="1" indent="-244316" algn="just">
              <a:lnSpc>
                <a:spcPts val="2916"/>
              </a:lnSpc>
              <a:buAutoNum type="arabicPeriod"/>
            </a:pPr>
            <a:r>
              <a:rPr lang="en-US" sz="27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Kindly keep the maximum slides limit up to six </a:t>
            </a:r>
            <a:r>
              <a:rPr lang="en-US" sz="2700" b="1" dirty="0">
                <a:solidFill>
                  <a:srgbClr val="C00000"/>
                </a:solidFill>
                <a:latin typeface="Arial Bold"/>
                <a:ea typeface="Arial Bold"/>
                <a:cs typeface="Arial Bold"/>
                <a:sym typeface="Arial Bold"/>
              </a:rPr>
              <a:t>(6). </a:t>
            </a:r>
            <a:r>
              <a:rPr lang="en-US" sz="27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( Including the title slide) </a:t>
            </a:r>
          </a:p>
          <a:p>
            <a:pPr marL="488632" lvl="1" indent="-244316" algn="just">
              <a:lnSpc>
                <a:spcPts val="2916"/>
              </a:lnSpc>
              <a:buAutoNum type="arabicPeriod"/>
            </a:pPr>
            <a:r>
              <a:rPr lang="en-US" sz="27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Try to avoid paragraphs and post your idea in points /diagrams / Infographics /pictures </a:t>
            </a:r>
          </a:p>
          <a:p>
            <a:pPr marL="488632" lvl="1" indent="-244316" algn="just">
              <a:lnSpc>
                <a:spcPts val="2916"/>
              </a:lnSpc>
              <a:buAutoNum type="arabicPeriod"/>
            </a:pPr>
            <a:r>
              <a:rPr lang="en-US" sz="27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Keep your explanation precise and easy to understand</a:t>
            </a:r>
          </a:p>
          <a:p>
            <a:pPr marL="488632" lvl="1" indent="-244316" algn="just">
              <a:lnSpc>
                <a:spcPts val="2916"/>
              </a:lnSpc>
              <a:buAutoNum type="arabicPeriod"/>
            </a:pPr>
            <a:r>
              <a:rPr lang="en-US" sz="27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Idea should be unique and novel. </a:t>
            </a:r>
          </a:p>
          <a:p>
            <a:pPr marL="488632" lvl="1" indent="-244316" algn="just">
              <a:lnSpc>
                <a:spcPts val="2916"/>
              </a:lnSpc>
              <a:buAutoNum type="arabicPeriod"/>
            </a:pPr>
            <a:r>
              <a:rPr lang="en-US" sz="27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You can only use provided template for making the PPT without changing the idea details pointers (mentioned in previous slides).</a:t>
            </a:r>
          </a:p>
          <a:p>
            <a:pPr marL="488632" lvl="1" indent="-244316" algn="just">
              <a:lnSpc>
                <a:spcPts val="2916"/>
              </a:lnSpc>
              <a:buAutoNum type="arabicPeriod"/>
            </a:pPr>
            <a:r>
              <a:rPr lang="en-US" sz="27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You need to save the file in PDF and upload the same on portal. No PPT, Word Doc or any other format will be supported.</a:t>
            </a:r>
          </a:p>
          <a:p>
            <a:pPr marL="488632" lvl="1" indent="-244316" algn="just">
              <a:lnSpc>
                <a:spcPts val="2916"/>
              </a:lnSpc>
            </a:pPr>
            <a:endParaRPr lang="en-US" sz="270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488632" lvl="1" indent="-244316" algn="just">
              <a:lnSpc>
                <a:spcPts val="2916"/>
              </a:lnSpc>
            </a:pPr>
            <a:r>
              <a:rPr lang="en-US" sz="2700" b="1" dirty="0">
                <a:solidFill>
                  <a:srgbClr val="C00000"/>
                </a:solidFill>
                <a:latin typeface="Arial Bold"/>
                <a:ea typeface="Arial Bold"/>
                <a:cs typeface="Arial Bold"/>
                <a:sym typeface="Arial Bold"/>
              </a:rPr>
              <a:t>Note - You can delete this slide (Important Pointers) when you upload the details of your idea on SIH portal.</a:t>
            </a:r>
          </a:p>
          <a:p>
            <a:pPr marL="488632" lvl="1" indent="-244316" algn="just">
              <a:lnSpc>
                <a:spcPts val="2916"/>
              </a:lnSpc>
            </a:pPr>
            <a:endParaRPr lang="en-US" sz="2700" b="1" dirty="0">
              <a:solidFill>
                <a:srgbClr val="C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181501" y="177746"/>
            <a:ext cx="12432925" cy="906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IMPORTANT INSTRUCTIONS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94953" y="1828095"/>
            <a:ext cx="14153607" cy="411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16"/>
              </a:lnSpc>
            </a:pPr>
            <a:r>
              <a:rPr lang="en-US" sz="27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Please ensure below pointers are met while submitting the Idea PPT: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471C4D3-A7B7-6564-5CBE-F19275F23E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0" y="204787"/>
            <a:ext cx="2941942" cy="13891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1434</Words>
  <Application>Microsoft Office PowerPoint</Application>
  <PresentationFormat>Custom</PresentationFormat>
  <Paragraphs>174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9" baseType="lpstr">
      <vt:lpstr>Times New Roman Bold</vt:lpstr>
      <vt:lpstr>Arial</vt:lpstr>
      <vt:lpstr>Garamond Bold</vt:lpstr>
      <vt:lpstr>Arimo</vt:lpstr>
      <vt:lpstr>Calibri</vt:lpstr>
      <vt:lpstr>Canva Sans Bold</vt:lpstr>
      <vt:lpstr>Arial Bold</vt:lpstr>
      <vt:lpstr>Times New Roman</vt:lpstr>
      <vt:lpstr>Calibri (MS)</vt:lpstr>
      <vt:lpstr>Canva Sans</vt:lpstr>
      <vt:lpstr>Arimo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early warning and landslide Risk Monitoring System in NER Theme-Disaster Management PS Category- Software/Hardware-Software Team ID- Team Name (Registered on portal)-Byte Force</dc:title>
  <dc:creator>Kaushika</dc:creator>
  <cp:lastModifiedBy>Kaushika R</cp:lastModifiedBy>
  <cp:revision>3</cp:revision>
  <dcterms:created xsi:type="dcterms:W3CDTF">2006-08-16T00:00:00Z</dcterms:created>
  <dcterms:modified xsi:type="dcterms:W3CDTF">2026-08-30T09:53:38Z</dcterms:modified>
  <dc:identifier>DAHTl-vNmSM</dc:identifier>
</cp:coreProperties>
</file>