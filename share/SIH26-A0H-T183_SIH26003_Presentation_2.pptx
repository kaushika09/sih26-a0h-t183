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Arial Bold" panose="020B0704020202020204" pitchFamily="34" charset="0"/>
      <p:regular r:id="rId9"/>
      <p:bold r:id="rId10"/>
    </p:embeddedFont>
    <p:embeddedFont>
      <p:font typeface="Arimo" panose="020B0604020202020204" charset="0"/>
      <p:regular r:id="rId11"/>
    </p:embeddedFont>
    <p:embeddedFont>
      <p:font typeface="Arimo Bold" panose="020B0604020202020204" charset="0"/>
      <p:regular r:id="rId12"/>
    </p:embeddedFont>
    <p:embeddedFont>
      <p:font typeface="Calibri (MS)" panose="020B0604020202020204" charset="0"/>
      <p:regular r:id="rId13"/>
    </p:embeddedFont>
    <p:embeddedFont>
      <p:font typeface="Canva Sans" panose="020B0604020202020204" charset="0"/>
      <p:regular r:id="rId14"/>
    </p:embeddedFont>
    <p:embeddedFont>
      <p:font typeface="Canva Sans Bold" panose="020B0604020202020204" charset="0"/>
      <p:regular r:id="rId15"/>
    </p:embeddedFont>
    <p:embeddedFont>
      <p:font typeface="Garamond Bold" panose="02020804030307010803" pitchFamily="18" charset="0"/>
      <p:regular r:id="rId16"/>
      <p:bold r:id="rId17"/>
    </p:embeddedFont>
    <p:embeddedFont>
      <p:font typeface="Times New Roman Bold" panose="02020803070505020304" pitchFamily="18" charset="0"/>
      <p:regular r:id="rId18"/>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29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tableStyles" Target="tableStyles.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485165" y="1277283"/>
            <a:ext cx="6957908" cy="7732452"/>
          </a:xfrm>
          <a:custGeom>
            <a:avLst/>
            <a:gdLst/>
            <a:ahLst/>
            <a:cxnLst/>
            <a:rect l="l" t="t" r="r" b="b"/>
            <a:pathLst>
              <a:path w="6957908" h="7732452">
                <a:moveTo>
                  <a:pt x="0" y="0"/>
                </a:moveTo>
                <a:lnTo>
                  <a:pt x="6957908" y="0"/>
                </a:lnTo>
                <a:lnTo>
                  <a:pt x="6957908" y="7732453"/>
                </a:lnTo>
                <a:lnTo>
                  <a:pt x="0" y="773245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0862415" y="2573822"/>
            <a:ext cx="4805267" cy="5139357"/>
            <a:chOff x="0" y="0"/>
            <a:chExt cx="6407023" cy="6852476"/>
          </a:xfrm>
        </p:grpSpPr>
        <p:sp>
          <p:nvSpPr>
            <p:cNvPr id="4" name="Freeform 4"/>
            <p:cNvSpPr/>
            <p:nvPr/>
          </p:nvSpPr>
          <p:spPr>
            <a:xfrm>
              <a:off x="0" y="0"/>
              <a:ext cx="6407023" cy="6852412"/>
            </a:xfrm>
            <a:custGeom>
              <a:avLst/>
              <a:gdLst/>
              <a:ahLst/>
              <a:cxnLst/>
              <a:rect l="l" t="t" r="r" b="b"/>
              <a:pathLst>
                <a:path w="6407023" h="6852412">
                  <a:moveTo>
                    <a:pt x="0" y="0"/>
                  </a:moveTo>
                  <a:lnTo>
                    <a:pt x="6407023" y="0"/>
                  </a:lnTo>
                  <a:lnTo>
                    <a:pt x="6407023" y="6852412"/>
                  </a:lnTo>
                  <a:lnTo>
                    <a:pt x="0" y="6852412"/>
                  </a:lnTo>
                  <a:lnTo>
                    <a:pt x="0" y="0"/>
                  </a:lnTo>
                  <a:close/>
                </a:path>
              </a:pathLst>
            </a:custGeom>
            <a:blipFill>
              <a:blip r:embed="rId3"/>
              <a:stretch>
                <a:fillRect r="-149475" b="-1"/>
              </a:stretch>
            </a:blipFill>
          </p:spPr>
        </p:sp>
      </p:grpSp>
      <p:sp>
        <p:nvSpPr>
          <p:cNvPr id="5" name="TextBox 5"/>
          <p:cNvSpPr txBox="1"/>
          <p:nvPr/>
        </p:nvSpPr>
        <p:spPr>
          <a:xfrm>
            <a:off x="1959969" y="990067"/>
            <a:ext cx="12618720" cy="2566035"/>
          </a:xfrm>
          <a:prstGeom prst="rect">
            <a:avLst/>
          </a:prstGeom>
        </p:spPr>
        <p:txBody>
          <a:bodyPr lIns="0" tIns="0" rIns="0" bIns="0" rtlCol="0" anchor="t">
            <a:spAutoFit/>
          </a:bodyPr>
          <a:lstStyle/>
          <a:p>
            <a:pPr algn="ctr">
              <a:lnSpc>
                <a:spcPts val="5759"/>
              </a:lnSpc>
            </a:pPr>
            <a:endParaRPr/>
          </a:p>
          <a:p>
            <a:pPr algn="ctr">
              <a:lnSpc>
                <a:spcPts val="5759"/>
              </a:lnSpc>
            </a:pPr>
            <a:r>
              <a:rPr lang="en-US" sz="4800" b="1">
                <a:solidFill>
                  <a:srgbClr val="000000"/>
                </a:solidFill>
                <a:latin typeface="Times New Roman Bold"/>
                <a:ea typeface="Times New Roman Bold"/>
                <a:cs typeface="Times New Roman Bold"/>
                <a:sym typeface="Times New Roman Bold"/>
              </a:rPr>
              <a:t>TITLE PAGE</a:t>
            </a:r>
          </a:p>
        </p:txBody>
      </p:sp>
      <p:grpSp>
        <p:nvGrpSpPr>
          <p:cNvPr id="6" name="Group 6"/>
          <p:cNvGrpSpPr/>
          <p:nvPr/>
        </p:nvGrpSpPr>
        <p:grpSpPr>
          <a:xfrm>
            <a:off x="496929" y="-790137"/>
            <a:ext cx="15544800" cy="3114675"/>
            <a:chOff x="0" y="0"/>
            <a:chExt cx="20726400" cy="4152900"/>
          </a:xfrm>
        </p:grpSpPr>
        <p:sp>
          <p:nvSpPr>
            <p:cNvPr id="7" name="Freeform 7"/>
            <p:cNvSpPr/>
            <p:nvPr/>
          </p:nvSpPr>
          <p:spPr>
            <a:xfrm>
              <a:off x="0" y="0"/>
              <a:ext cx="20726400" cy="4152900"/>
            </a:xfrm>
            <a:custGeom>
              <a:avLst/>
              <a:gdLst/>
              <a:ahLst/>
              <a:cxnLst/>
              <a:rect l="l" t="t" r="r" b="b"/>
              <a:pathLst>
                <a:path w="20726400" h="4152900">
                  <a:moveTo>
                    <a:pt x="0" y="0"/>
                  </a:moveTo>
                  <a:lnTo>
                    <a:pt x="20726400" y="0"/>
                  </a:lnTo>
                  <a:lnTo>
                    <a:pt x="20726400" y="4152900"/>
                  </a:lnTo>
                  <a:lnTo>
                    <a:pt x="0" y="4152900"/>
                  </a:lnTo>
                  <a:close/>
                </a:path>
              </a:pathLst>
            </a:custGeom>
            <a:blipFill>
              <a:blip r:embed="rId4">
                <a:alphaModFix amt="0"/>
              </a:blip>
              <a:stretch>
                <a:fillRect t="-47246" b="-47246"/>
              </a:stretch>
            </a:blipFill>
          </p:spPr>
        </p:sp>
        <p:sp>
          <p:nvSpPr>
            <p:cNvPr id="8" name="TextBox 8"/>
            <p:cNvSpPr txBox="1"/>
            <p:nvPr/>
          </p:nvSpPr>
          <p:spPr>
            <a:xfrm>
              <a:off x="0" y="-19050"/>
              <a:ext cx="20726400" cy="4171950"/>
            </a:xfrm>
            <a:prstGeom prst="rect">
              <a:avLst/>
            </a:prstGeom>
          </p:spPr>
          <p:txBody>
            <a:bodyPr lIns="0" tIns="0" rIns="0" bIns="0" rtlCol="0" anchor="ctr"/>
            <a:lstStyle/>
            <a:p>
              <a:pPr algn="ctr">
                <a:lnSpc>
                  <a:spcPts val="7200"/>
                </a:lnSpc>
              </a:pPr>
              <a:r>
                <a:rPr lang="en-US" sz="6000" b="1">
                  <a:solidFill>
                    <a:srgbClr val="1F497D"/>
                  </a:solidFill>
                  <a:latin typeface="Garamond Bold"/>
                  <a:ea typeface="Garamond Bold"/>
                  <a:cs typeface="Garamond Bold"/>
                  <a:sym typeface="Garamond Bold"/>
                </a:rPr>
                <a:t>SMART INDIA HACKATHON 2026</a:t>
              </a:r>
            </a:p>
          </p:txBody>
        </p:sp>
      </p:grpSp>
      <p:sp>
        <p:nvSpPr>
          <p:cNvPr id="9" name="TextBox 9"/>
          <p:cNvSpPr txBox="1"/>
          <p:nvPr/>
        </p:nvSpPr>
        <p:spPr>
          <a:xfrm>
            <a:off x="1028700" y="1827434"/>
            <a:ext cx="8488861" cy="8059133"/>
          </a:xfrm>
          <a:prstGeom prst="rect">
            <a:avLst/>
          </a:prstGeom>
        </p:spPr>
        <p:txBody>
          <a:bodyPr lIns="0" tIns="0" rIns="0" bIns="0" rtlCol="0" anchor="t">
            <a:spAutoFit/>
          </a:bodyPr>
          <a:lstStyle/>
          <a:p>
            <a:pPr algn="l">
              <a:lnSpc>
                <a:spcPts val="3453"/>
              </a:lnSpc>
            </a:pPr>
            <a:endParaRPr/>
          </a:p>
          <a:p>
            <a:pPr marL="520858" lvl="1" indent="-260429" algn="just">
              <a:lnSpc>
                <a:spcPts val="6907"/>
              </a:lnSpc>
              <a:buFont typeface="Arial"/>
              <a:buChar char="•"/>
            </a:pPr>
            <a:r>
              <a:rPr lang="en-US" sz="2878" b="1">
                <a:solidFill>
                  <a:srgbClr val="000000"/>
                </a:solidFill>
                <a:latin typeface="Arial Bold"/>
                <a:ea typeface="Arial Bold"/>
                <a:cs typeface="Arial Bold"/>
                <a:sym typeface="Arial Bold"/>
              </a:rPr>
              <a:t>Problem Statement ID –</a:t>
            </a:r>
            <a:r>
              <a:rPr lang="en-US" sz="2878">
                <a:solidFill>
                  <a:srgbClr val="000000"/>
                </a:solidFill>
                <a:latin typeface="Arial"/>
                <a:ea typeface="Arial"/>
                <a:cs typeface="Arial"/>
                <a:sym typeface="Arial"/>
              </a:rPr>
              <a:t>SIH26003</a:t>
            </a:r>
          </a:p>
          <a:p>
            <a:pPr marL="518077" lvl="1" indent="-259038" algn="just">
              <a:lnSpc>
                <a:spcPts val="6870"/>
              </a:lnSpc>
              <a:buFont typeface="Arial"/>
              <a:buChar char="•"/>
            </a:pPr>
            <a:r>
              <a:rPr lang="en-US" sz="2862" b="1">
                <a:solidFill>
                  <a:srgbClr val="000000"/>
                </a:solidFill>
                <a:latin typeface="Arial Bold"/>
                <a:ea typeface="Arial Bold"/>
                <a:cs typeface="Arial Bold"/>
                <a:sym typeface="Arial Bold"/>
              </a:rPr>
              <a:t>Problem Statement Title-</a:t>
            </a:r>
            <a:r>
              <a:rPr lang="en-US" sz="2862">
                <a:solidFill>
                  <a:srgbClr val="000000"/>
                </a:solidFill>
                <a:latin typeface="Arial"/>
                <a:ea typeface="Arial"/>
                <a:cs typeface="Arial"/>
                <a:sym typeface="Arial"/>
              </a:rPr>
              <a:t>AI-Based Cognitive Gaming and Memory Assistance Platform for Elderly Dementia Patients in North Eastern Region (NER)</a:t>
            </a:r>
          </a:p>
          <a:p>
            <a:pPr marL="520858" lvl="1" indent="-260429" algn="just">
              <a:lnSpc>
                <a:spcPts val="6907"/>
              </a:lnSpc>
              <a:buFont typeface="Arial"/>
              <a:buChar char="•"/>
            </a:pPr>
            <a:r>
              <a:rPr lang="en-US" sz="2878" b="1">
                <a:solidFill>
                  <a:srgbClr val="000000"/>
                </a:solidFill>
                <a:latin typeface="Arial Bold"/>
                <a:ea typeface="Arial Bold"/>
                <a:cs typeface="Arial Bold"/>
                <a:sym typeface="Arial Bold"/>
              </a:rPr>
              <a:t>Theme-</a:t>
            </a:r>
            <a:r>
              <a:rPr lang="en-US" sz="2878">
                <a:solidFill>
                  <a:srgbClr val="000000"/>
                </a:solidFill>
                <a:latin typeface="Arial"/>
                <a:ea typeface="Arial"/>
                <a:cs typeface="Arial"/>
                <a:sym typeface="Arial"/>
              </a:rPr>
              <a:t>Space Technology</a:t>
            </a:r>
          </a:p>
          <a:p>
            <a:pPr marL="520858" lvl="1" indent="-260429" algn="just">
              <a:lnSpc>
                <a:spcPts val="6907"/>
              </a:lnSpc>
              <a:buFont typeface="Arial"/>
              <a:buChar char="•"/>
            </a:pPr>
            <a:r>
              <a:rPr lang="en-US" sz="2878" b="1">
                <a:solidFill>
                  <a:srgbClr val="000000"/>
                </a:solidFill>
                <a:latin typeface="Arial Bold"/>
                <a:ea typeface="Arial Bold"/>
                <a:cs typeface="Arial Bold"/>
                <a:sym typeface="Arial Bold"/>
              </a:rPr>
              <a:t>PS Category- </a:t>
            </a:r>
            <a:r>
              <a:rPr lang="en-US" sz="2878">
                <a:solidFill>
                  <a:srgbClr val="000000"/>
                </a:solidFill>
                <a:latin typeface="Arial"/>
                <a:ea typeface="Arial"/>
                <a:cs typeface="Arial"/>
                <a:sym typeface="Arial"/>
              </a:rPr>
              <a:t>Software</a:t>
            </a:r>
          </a:p>
          <a:p>
            <a:pPr marL="520858" lvl="1" indent="-260429" algn="just">
              <a:lnSpc>
                <a:spcPts val="6907"/>
              </a:lnSpc>
              <a:buFont typeface="Arial"/>
              <a:buChar char="•"/>
            </a:pPr>
            <a:r>
              <a:rPr lang="en-US" sz="2878" b="1">
                <a:solidFill>
                  <a:srgbClr val="000000"/>
                </a:solidFill>
                <a:latin typeface="Arial Bold"/>
                <a:ea typeface="Arial Bold"/>
                <a:cs typeface="Arial Bold"/>
                <a:sym typeface="Arial Bold"/>
              </a:rPr>
              <a:t>Team ID-</a:t>
            </a:r>
            <a:r>
              <a:rPr lang="en-US" sz="2878">
                <a:solidFill>
                  <a:srgbClr val="000000"/>
                </a:solidFill>
                <a:latin typeface="Arial"/>
                <a:ea typeface="Arial"/>
                <a:cs typeface="Arial"/>
                <a:sym typeface="Arial"/>
              </a:rPr>
              <a:t>SIH26-A0H-T183</a:t>
            </a:r>
          </a:p>
          <a:p>
            <a:pPr marL="520858" lvl="1" indent="-260429" algn="just">
              <a:lnSpc>
                <a:spcPts val="6907"/>
              </a:lnSpc>
              <a:buFont typeface="Arial"/>
              <a:buChar char="•"/>
            </a:pPr>
            <a:r>
              <a:rPr lang="en-US" sz="2878" b="1">
                <a:solidFill>
                  <a:srgbClr val="000000"/>
                </a:solidFill>
                <a:latin typeface="Arial Bold"/>
                <a:ea typeface="Arial Bold"/>
                <a:cs typeface="Arial Bold"/>
                <a:sym typeface="Arial Bold"/>
              </a:rPr>
              <a:t>Team Name (Registered on portal)-</a:t>
            </a:r>
            <a:r>
              <a:rPr lang="en-US" sz="2878">
                <a:solidFill>
                  <a:srgbClr val="000000"/>
                </a:solidFill>
                <a:latin typeface="Arial"/>
                <a:ea typeface="Arial"/>
                <a:cs typeface="Arial"/>
                <a:sym typeface="Arial"/>
              </a:rPr>
              <a:t>Byte Forc</a:t>
            </a:r>
            <a:r>
              <a:rPr lang="en-US" sz="2878" b="1">
                <a:solidFill>
                  <a:srgbClr val="000000"/>
                </a:solidFill>
                <a:latin typeface="Arial Bold"/>
                <a:ea typeface="Arial Bold"/>
                <a:cs typeface="Arial Bold"/>
                <a:sym typeface="Arial Bold"/>
              </a:rPr>
              <a:t>e </a:t>
            </a:r>
          </a:p>
        </p:txBody>
      </p:sp>
      <p:grpSp>
        <p:nvGrpSpPr>
          <p:cNvPr id="10" name="Group 10"/>
          <p:cNvGrpSpPr/>
          <p:nvPr/>
        </p:nvGrpSpPr>
        <p:grpSpPr>
          <a:xfrm>
            <a:off x="14670129" y="2248"/>
            <a:ext cx="3374774" cy="1593504"/>
            <a:chOff x="0" y="0"/>
            <a:chExt cx="4499699" cy="2124672"/>
          </a:xfrm>
        </p:grpSpPr>
        <p:sp>
          <p:nvSpPr>
            <p:cNvPr id="11" name="Freeform 11"/>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5"/>
              <a:stretch>
                <a:fillRect b="1"/>
              </a:stretch>
            </a:blipFill>
          </p:spPr>
        </p:sp>
      </p:grpSp>
      <p:sp>
        <p:nvSpPr>
          <p:cNvPr id="12" name="TextBox 11">
            <a:extLst>
              <a:ext uri="{FF2B5EF4-FFF2-40B4-BE49-F238E27FC236}">
                <a16:creationId xmlns:a16="http://schemas.microsoft.com/office/drawing/2014/main" id="{1759514F-A7E0-F6BA-AEF3-48356C517C06}"/>
              </a:ext>
            </a:extLst>
          </p:cNvPr>
          <p:cNvSpPr txBox="1"/>
          <p:nvPr/>
        </p:nvSpPr>
        <p:spPr>
          <a:xfrm>
            <a:off x="-1447800" y="1485900"/>
            <a:ext cx="184731" cy="369332"/>
          </a:xfrm>
          <a:prstGeom prst="rect">
            <a:avLst/>
          </a:prstGeom>
          <a:noFill/>
        </p:spPr>
        <p:txBody>
          <a:bodyPr wrap="none" rtlCol="0">
            <a:spAutoFit/>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4620" y="9413396"/>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255451" y="-118748"/>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endParaRPr/>
            </a:p>
            <a:p>
              <a:pPr algn="ctr">
                <a:lnSpc>
                  <a:spcPts val="6480"/>
                </a:lnSpc>
              </a:pPr>
              <a:r>
                <a:rPr lang="en-US" sz="5400" b="1">
                  <a:solidFill>
                    <a:srgbClr val="000000"/>
                  </a:solidFill>
                  <a:latin typeface="Times New Roman Bold"/>
                  <a:ea typeface="Times New Roman Bold"/>
                  <a:cs typeface="Times New Roman Bold"/>
                  <a:sym typeface="Times New Roman Bold"/>
                </a:rPr>
                <a:t>IDEA TITLE</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2</a:t>
              </a:r>
            </a:p>
          </p:txBody>
        </p:sp>
      </p:grpSp>
      <p:grpSp>
        <p:nvGrpSpPr>
          <p:cNvPr id="10" name="Group 10"/>
          <p:cNvGrpSpPr/>
          <p:nvPr/>
        </p:nvGrpSpPr>
        <p:grpSpPr>
          <a:xfrm>
            <a:off x="6972300" y="9534525"/>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2">
                <a:alphaModFix amt="0"/>
              </a:blip>
              <a:stretch>
                <a:fillRect t="-120982" b="-120982"/>
              </a:stretch>
            </a:blipFill>
          </p:spPr>
        </p:sp>
        <p:sp>
          <p:nvSpPr>
            <p:cNvPr id="12" name="TextBox 12"/>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id="13" name="Group 13"/>
          <p:cNvGrpSpPr/>
          <p:nvPr/>
        </p:nvGrpSpPr>
        <p:grpSpPr>
          <a:xfrm>
            <a:off x="255451" y="174449"/>
            <a:ext cx="1915887" cy="1249101"/>
            <a:chOff x="0" y="0"/>
            <a:chExt cx="2554516" cy="1665468"/>
          </a:xfrm>
        </p:grpSpPr>
        <p:sp>
          <p:nvSpPr>
            <p:cNvPr id="14" name="Freeform 14" descr="Your startup LOGO"/>
            <p:cNvSpPr/>
            <p:nvPr/>
          </p:nvSpPr>
          <p:spPr>
            <a:xfrm>
              <a:off x="0" y="0"/>
              <a:ext cx="2554478" cy="1665481"/>
            </a:xfrm>
            <a:custGeom>
              <a:avLst/>
              <a:gdLst/>
              <a:ahLst/>
              <a:cxnLst/>
              <a:rect l="l" t="t" r="r" b="b"/>
              <a:pathLst>
                <a:path w="2554478" h="1665481">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id="15" name="TextBox 15"/>
            <p:cNvSpPr txBox="1"/>
            <p:nvPr/>
          </p:nvSpPr>
          <p:spPr>
            <a:xfrm>
              <a:off x="0" y="-57150"/>
              <a:ext cx="2554516" cy="1722618"/>
            </a:xfrm>
            <a:prstGeom prst="rect">
              <a:avLst/>
            </a:prstGeom>
          </p:spPr>
          <p:txBody>
            <a:bodyPr lIns="50800" tIns="50800" rIns="50800" bIns="50800" rtlCol="0" anchor="ctr"/>
            <a:lstStyle/>
            <a:p>
              <a:pPr algn="ctr">
                <a:lnSpc>
                  <a:spcPts val="3240"/>
                </a:lnSpc>
              </a:pPr>
              <a:r>
                <a:rPr lang="en-US" sz="2700">
                  <a:solidFill>
                    <a:srgbClr val="000000"/>
                  </a:solidFill>
                  <a:latin typeface="Calibri (MS)"/>
                  <a:ea typeface="Calibri (MS)"/>
                  <a:cs typeface="Calibri (MS)"/>
                  <a:sym typeface="Calibri (MS)"/>
                </a:rPr>
                <a:t>Byte Force</a:t>
              </a:r>
            </a:p>
          </p:txBody>
        </p:sp>
      </p:grpSp>
      <p:grpSp>
        <p:nvGrpSpPr>
          <p:cNvPr id="16" name="Group 16"/>
          <p:cNvGrpSpPr/>
          <p:nvPr/>
        </p:nvGrpSpPr>
        <p:grpSpPr>
          <a:xfrm>
            <a:off x="14670129" y="2248"/>
            <a:ext cx="3374774" cy="1593504"/>
            <a:chOff x="0" y="0"/>
            <a:chExt cx="4499699" cy="2124672"/>
          </a:xfrm>
        </p:grpSpPr>
        <p:sp>
          <p:nvSpPr>
            <p:cNvPr id="17" name="Freeform 17"/>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3"/>
              <a:stretch>
                <a:fillRect b="1"/>
              </a:stretch>
            </a:blipFill>
          </p:spPr>
        </p:sp>
      </p:grpSp>
      <p:sp>
        <p:nvSpPr>
          <p:cNvPr id="18" name="TextBox 18"/>
          <p:cNvSpPr txBox="1"/>
          <p:nvPr/>
        </p:nvSpPr>
        <p:spPr>
          <a:xfrm>
            <a:off x="490303" y="1448429"/>
            <a:ext cx="5973438" cy="8029575"/>
          </a:xfrm>
          <a:prstGeom prst="rect">
            <a:avLst/>
          </a:prstGeom>
        </p:spPr>
        <p:txBody>
          <a:bodyPr lIns="0" tIns="0" rIns="0" bIns="0" rtlCol="0" anchor="t">
            <a:spAutoFit/>
          </a:bodyPr>
          <a:lstStyle/>
          <a:p>
            <a:pPr algn="ctr">
              <a:lnSpc>
                <a:spcPts val="2134"/>
              </a:lnSpc>
              <a:spcBef>
                <a:spcPct val="0"/>
              </a:spcBef>
            </a:pPr>
            <a:r>
              <a:rPr lang="en-US" sz="1778" b="1">
                <a:solidFill>
                  <a:srgbClr val="000000"/>
                </a:solidFill>
                <a:latin typeface="Times New Roman Bold"/>
                <a:ea typeface="Times New Roman Bold"/>
                <a:cs typeface="Times New Roman Bold"/>
                <a:sym typeface="Times New Roman Bold"/>
              </a:rPr>
              <a:t>PROBLEM WE ARE ADDRESSING</a:t>
            </a:r>
          </a:p>
          <a:p>
            <a:pPr marL="375789" lvl="1" indent="-187895" algn="l">
              <a:lnSpc>
                <a:spcPts val="2088"/>
              </a:lnSpc>
              <a:spcBef>
                <a:spcPct val="0"/>
              </a:spcBef>
              <a:buFont typeface="Arial"/>
              <a:buChar char="•"/>
            </a:pPr>
            <a:r>
              <a:rPr lang="en-US" sz="1740" b="1">
                <a:solidFill>
                  <a:srgbClr val="000000"/>
                </a:solidFill>
                <a:latin typeface="Times New Roman Bold"/>
                <a:ea typeface="Times New Roman Bold"/>
                <a:cs typeface="Times New Roman Bold"/>
                <a:sym typeface="Times New Roman Bold"/>
              </a:rPr>
              <a:t>Memory decline: </a:t>
            </a:r>
            <a:r>
              <a:rPr lang="en-US" sz="1740">
                <a:solidFill>
                  <a:srgbClr val="000000"/>
                </a:solidFill>
                <a:latin typeface="Times New Roman"/>
                <a:ea typeface="Times New Roman"/>
                <a:cs typeface="Times New Roman"/>
                <a:sym typeface="Times New Roman"/>
              </a:rPr>
              <a:t>Elderly dementia patients often experience progressive memory loss, making it difficult to remember people, objects, routines and daily activities.</a:t>
            </a:r>
          </a:p>
          <a:p>
            <a:pPr marL="375789" lvl="1" indent="-187895" algn="l">
              <a:lnSpc>
                <a:spcPts val="2088"/>
              </a:lnSpc>
              <a:spcBef>
                <a:spcPct val="0"/>
              </a:spcBef>
              <a:buFont typeface="Arial"/>
              <a:buChar char="•"/>
            </a:pPr>
            <a:r>
              <a:rPr lang="en-US" sz="1740" b="1">
                <a:solidFill>
                  <a:srgbClr val="000000"/>
                </a:solidFill>
                <a:latin typeface="Times New Roman Bold"/>
                <a:ea typeface="Times New Roman Bold"/>
                <a:cs typeface="Times New Roman Bold"/>
                <a:sym typeface="Times New Roman Bold"/>
              </a:rPr>
              <a:t> Reduced attention: </a:t>
            </a:r>
            <a:r>
              <a:rPr lang="en-US" sz="1740">
                <a:solidFill>
                  <a:srgbClr val="000000"/>
                </a:solidFill>
                <a:latin typeface="Times New Roman"/>
                <a:ea typeface="Times New Roman"/>
                <a:cs typeface="Times New Roman"/>
                <a:sym typeface="Times New Roman"/>
              </a:rPr>
              <a:t>Dementia can affect concentration and the ability to focus on simple tasks for extended periods.</a:t>
            </a:r>
          </a:p>
          <a:p>
            <a:pPr marL="375789" lvl="1" indent="-187895" algn="l">
              <a:lnSpc>
                <a:spcPts val="2088"/>
              </a:lnSpc>
              <a:spcBef>
                <a:spcPct val="0"/>
              </a:spcBef>
              <a:buFont typeface="Arial"/>
              <a:buChar char="•"/>
            </a:pPr>
            <a:r>
              <a:rPr lang="en-US" sz="1740" b="1">
                <a:solidFill>
                  <a:srgbClr val="000000"/>
                </a:solidFill>
                <a:latin typeface="Times New Roman Bold"/>
                <a:ea typeface="Times New Roman Bold"/>
                <a:cs typeface="Times New Roman Bold"/>
                <a:sym typeface="Times New Roman Bold"/>
              </a:rPr>
              <a:t> Difficulty with daily routines: </a:t>
            </a:r>
            <a:r>
              <a:rPr lang="en-US" sz="1740">
                <a:solidFill>
                  <a:srgbClr val="000000"/>
                </a:solidFill>
                <a:latin typeface="Times New Roman"/>
                <a:ea typeface="Times New Roman"/>
                <a:cs typeface="Times New Roman"/>
                <a:sym typeface="Times New Roman"/>
              </a:rPr>
              <a:t>Patients may forget medicines, hydration, activities and medical appointments.</a:t>
            </a:r>
          </a:p>
          <a:p>
            <a:pPr marL="375789" lvl="1" indent="-187895" algn="l">
              <a:lnSpc>
                <a:spcPts val="2088"/>
              </a:lnSpc>
              <a:spcBef>
                <a:spcPct val="0"/>
              </a:spcBef>
              <a:buFont typeface="Arial"/>
              <a:buChar char="•"/>
            </a:pPr>
            <a:r>
              <a:rPr lang="en-US" sz="1740" b="1">
                <a:solidFill>
                  <a:srgbClr val="000000"/>
                </a:solidFill>
                <a:latin typeface="Times New Roman Bold"/>
                <a:ea typeface="Times New Roman Bold"/>
                <a:cs typeface="Times New Roman Bold"/>
                <a:sym typeface="Times New Roman Bold"/>
              </a:rPr>
              <a:t>Limited access to cognitive care: </a:t>
            </a:r>
            <a:r>
              <a:rPr lang="en-US" sz="1740">
                <a:solidFill>
                  <a:srgbClr val="000000"/>
                </a:solidFill>
                <a:latin typeface="Times New Roman"/>
                <a:ea typeface="Times New Roman"/>
                <a:cs typeface="Times New Roman"/>
                <a:sym typeface="Times New Roman"/>
              </a:rPr>
              <a:t>Elderly people in remote and rural areas of the North Eastern Region may face difficulties accessing specialized neurological care and cognitive therapy.</a:t>
            </a:r>
          </a:p>
          <a:p>
            <a:pPr marL="375789" lvl="1" indent="-187895" algn="l">
              <a:lnSpc>
                <a:spcPts val="2088"/>
              </a:lnSpc>
              <a:spcBef>
                <a:spcPct val="0"/>
              </a:spcBef>
              <a:buFont typeface="Arial"/>
              <a:buChar char="•"/>
            </a:pPr>
            <a:r>
              <a:rPr lang="en-US" sz="1740" b="1">
                <a:solidFill>
                  <a:srgbClr val="000000"/>
                </a:solidFill>
                <a:latin typeface="Times New Roman Bold"/>
                <a:ea typeface="Times New Roman Bold"/>
                <a:cs typeface="Times New Roman Bold"/>
                <a:sym typeface="Times New Roman Bold"/>
              </a:rPr>
              <a:t>Confusion &amp; social isolation: </a:t>
            </a:r>
            <a:r>
              <a:rPr lang="en-US" sz="1740">
                <a:solidFill>
                  <a:srgbClr val="000000"/>
                </a:solidFill>
                <a:latin typeface="Times New Roman"/>
                <a:ea typeface="Times New Roman"/>
                <a:cs typeface="Times New Roman"/>
                <a:sym typeface="Times New Roman"/>
              </a:rPr>
              <a:t>Dementia can contribute to confusion, anxiety and reduced social engagement.</a:t>
            </a:r>
          </a:p>
          <a:p>
            <a:pPr marL="375789" lvl="1" indent="-187895" algn="l">
              <a:lnSpc>
                <a:spcPts val="2088"/>
              </a:lnSpc>
              <a:spcBef>
                <a:spcPct val="0"/>
              </a:spcBef>
              <a:buFont typeface="Arial"/>
              <a:buChar char="•"/>
            </a:pPr>
            <a:r>
              <a:rPr lang="en-US" sz="1740" b="1">
                <a:solidFill>
                  <a:srgbClr val="000000"/>
                </a:solidFill>
                <a:latin typeface="Times New Roman Bold"/>
                <a:ea typeface="Times New Roman Bold"/>
                <a:cs typeface="Times New Roman Bold"/>
                <a:sym typeface="Times New Roman Bold"/>
              </a:rPr>
              <a:t> Lack of personalized support: </a:t>
            </a:r>
            <a:r>
              <a:rPr lang="en-US" sz="1740">
                <a:solidFill>
                  <a:srgbClr val="000000"/>
                </a:solidFill>
                <a:latin typeface="Times New Roman"/>
                <a:ea typeface="Times New Roman"/>
                <a:cs typeface="Times New Roman"/>
                <a:sym typeface="Times New Roman"/>
              </a:rPr>
              <a:t>Conventional cognitive activities do not automatically adapt to the changing cognitive performance of individual patients.</a:t>
            </a:r>
          </a:p>
          <a:p>
            <a:pPr algn="ctr">
              <a:lnSpc>
                <a:spcPts val="2257"/>
              </a:lnSpc>
              <a:spcBef>
                <a:spcPct val="0"/>
              </a:spcBef>
            </a:pPr>
            <a:r>
              <a:rPr lang="en-US" sz="1881" b="1">
                <a:solidFill>
                  <a:srgbClr val="000000"/>
                </a:solidFill>
                <a:latin typeface="Times New Roman Bold"/>
                <a:ea typeface="Times New Roman Bold"/>
                <a:cs typeface="Times New Roman Bold"/>
                <a:sym typeface="Times New Roman Bold"/>
              </a:rPr>
              <a:t>OUR SOLUTION</a:t>
            </a:r>
          </a:p>
          <a:p>
            <a:pPr marL="374657" lvl="1" indent="-187329" algn="l">
              <a:lnSpc>
                <a:spcPts val="2082"/>
              </a:lnSpc>
              <a:spcBef>
                <a:spcPct val="0"/>
              </a:spcBef>
              <a:buFont typeface="Arial"/>
              <a:buChar char="•"/>
            </a:pPr>
            <a:r>
              <a:rPr lang="en-US" sz="1735" b="1">
                <a:solidFill>
                  <a:srgbClr val="000000"/>
                </a:solidFill>
                <a:latin typeface="Times New Roman Bold"/>
                <a:ea typeface="Times New Roman Bold"/>
                <a:cs typeface="Times New Roman Bold"/>
                <a:sym typeface="Times New Roman Bold"/>
              </a:rPr>
              <a:t>AI-Powered Cognitive Gaming:</a:t>
            </a:r>
            <a:r>
              <a:rPr lang="en-US" sz="1735">
                <a:solidFill>
                  <a:srgbClr val="000000"/>
                </a:solidFill>
                <a:latin typeface="Times New Roman"/>
                <a:ea typeface="Times New Roman"/>
                <a:cs typeface="Times New Roman"/>
                <a:sym typeface="Times New Roman"/>
              </a:rPr>
              <a:t>Interactive games targeting memory, attention, concentration, routine recall, pattern recognition and object recognition.</a:t>
            </a:r>
          </a:p>
          <a:p>
            <a:pPr marL="374657" lvl="1" indent="-187329" algn="l">
              <a:lnSpc>
                <a:spcPts val="2082"/>
              </a:lnSpc>
              <a:spcBef>
                <a:spcPct val="0"/>
              </a:spcBef>
              <a:buFont typeface="Arial"/>
              <a:buChar char="•"/>
            </a:pPr>
            <a:r>
              <a:rPr lang="en-US" sz="1735" b="1">
                <a:solidFill>
                  <a:srgbClr val="000000"/>
                </a:solidFill>
                <a:latin typeface="Times New Roman Bold"/>
                <a:ea typeface="Times New Roman Bold"/>
                <a:cs typeface="Times New Roman Bold"/>
                <a:sym typeface="Times New Roman Bold"/>
              </a:rPr>
              <a:t>Adaptive AI: </a:t>
            </a:r>
            <a:r>
              <a:rPr lang="en-US" sz="1735">
                <a:solidFill>
                  <a:srgbClr val="000000"/>
                </a:solidFill>
                <a:latin typeface="Times New Roman"/>
                <a:ea typeface="Times New Roman"/>
                <a:cs typeface="Times New Roman"/>
                <a:sym typeface="Times New Roman"/>
              </a:rPr>
              <a:t>Uses patient performance such as accuracy, response time and mistakes to dynamically adjust game difficulty.</a:t>
            </a:r>
          </a:p>
          <a:p>
            <a:pPr marL="374657" lvl="1" indent="-187329" algn="l">
              <a:lnSpc>
                <a:spcPts val="2082"/>
              </a:lnSpc>
              <a:spcBef>
                <a:spcPct val="0"/>
              </a:spcBef>
              <a:buFont typeface="Arial"/>
              <a:buChar char="•"/>
            </a:pPr>
            <a:r>
              <a:rPr lang="en-US" sz="1735" b="1">
                <a:solidFill>
                  <a:srgbClr val="000000"/>
                </a:solidFill>
                <a:latin typeface="Times New Roman Bold"/>
                <a:ea typeface="Times New Roman Bold"/>
                <a:cs typeface="Times New Roman Bold"/>
                <a:sym typeface="Times New Roman Bold"/>
              </a:rPr>
              <a:t>Memory Assistance</a:t>
            </a:r>
            <a:r>
              <a:rPr lang="en-US" sz="1735">
                <a:solidFill>
                  <a:srgbClr val="000000"/>
                </a:solidFill>
                <a:latin typeface="Times New Roman"/>
                <a:ea typeface="Times New Roman"/>
                <a:cs typeface="Times New Roman"/>
                <a:sym typeface="Times New Roman"/>
              </a:rPr>
              <a:t>: Provides reminders for medicines, hydration, daily activities and medical appointments.</a:t>
            </a:r>
          </a:p>
          <a:p>
            <a:pPr marL="374657" lvl="1" indent="-187329" algn="l">
              <a:lnSpc>
                <a:spcPts val="2082"/>
              </a:lnSpc>
              <a:spcBef>
                <a:spcPct val="0"/>
              </a:spcBef>
              <a:buFont typeface="Arial"/>
              <a:buChar char="•"/>
            </a:pPr>
            <a:r>
              <a:rPr lang="en-US" sz="1735" b="1">
                <a:solidFill>
                  <a:srgbClr val="000000"/>
                </a:solidFill>
                <a:latin typeface="Times New Roman Bold"/>
                <a:ea typeface="Times New Roman Bold"/>
                <a:cs typeface="Times New Roman Bold"/>
                <a:sym typeface="Times New Roman Bold"/>
              </a:rPr>
              <a:t>Voice &amp; Multilingual Support: </a:t>
            </a:r>
            <a:r>
              <a:rPr lang="en-US" sz="1735">
                <a:solidFill>
                  <a:srgbClr val="000000"/>
                </a:solidFill>
                <a:latin typeface="Times New Roman"/>
                <a:ea typeface="Times New Roman"/>
                <a:cs typeface="Times New Roman"/>
                <a:sym typeface="Times New Roman"/>
              </a:rPr>
              <a:t>Enables simple voice-assisted interaction and supports regional languages for elderly users.</a:t>
            </a:r>
          </a:p>
          <a:p>
            <a:pPr marL="374657" lvl="1" indent="-187329" algn="l">
              <a:lnSpc>
                <a:spcPts val="2082"/>
              </a:lnSpc>
              <a:buFont typeface="Arial"/>
              <a:buChar char="•"/>
            </a:pPr>
            <a:r>
              <a:rPr lang="en-US" sz="1735" b="1">
                <a:solidFill>
                  <a:srgbClr val="000000"/>
                </a:solidFill>
                <a:latin typeface="Times New Roman Bold"/>
                <a:ea typeface="Times New Roman Bold"/>
                <a:cs typeface="Times New Roman Bold"/>
                <a:sym typeface="Times New Roman Bold"/>
              </a:rPr>
              <a:t>Caregiver Support:</a:t>
            </a:r>
            <a:r>
              <a:rPr lang="en-US" sz="1735">
                <a:solidFill>
                  <a:srgbClr val="000000"/>
                </a:solidFill>
                <a:latin typeface="Times New Roman"/>
                <a:ea typeface="Times New Roman"/>
                <a:cs typeface="Times New Roman"/>
                <a:sym typeface="Times New Roman"/>
              </a:rPr>
              <a:t> Provides performance history, activity progress and personalized insights to caregivers.</a:t>
            </a:r>
          </a:p>
          <a:p>
            <a:pPr algn="l">
              <a:lnSpc>
                <a:spcPts val="1991"/>
              </a:lnSpc>
            </a:pPr>
            <a:endParaRPr lang="en-US" sz="1735">
              <a:solidFill>
                <a:srgbClr val="000000"/>
              </a:solidFill>
              <a:latin typeface="Times New Roman"/>
              <a:ea typeface="Times New Roman"/>
              <a:cs typeface="Times New Roman"/>
              <a:sym typeface="Times New Roman"/>
            </a:endParaRPr>
          </a:p>
        </p:txBody>
      </p:sp>
      <p:sp>
        <p:nvSpPr>
          <p:cNvPr id="19" name="AutoShape 19"/>
          <p:cNvSpPr/>
          <p:nvPr/>
        </p:nvSpPr>
        <p:spPr>
          <a:xfrm>
            <a:off x="6547411" y="1539756"/>
            <a:ext cx="0" cy="7873639"/>
          </a:xfrm>
          <a:prstGeom prst="line">
            <a:avLst/>
          </a:prstGeom>
          <a:ln w="38100" cap="flat">
            <a:solidFill>
              <a:srgbClr val="000000"/>
            </a:solidFill>
            <a:prstDash val="solid"/>
            <a:headEnd type="none" w="sm" len="sm"/>
            <a:tailEnd type="none" w="sm" len="sm"/>
          </a:ln>
        </p:spPr>
      </p:sp>
      <p:sp>
        <p:nvSpPr>
          <p:cNvPr id="20" name="AutoShape 20"/>
          <p:cNvSpPr/>
          <p:nvPr/>
        </p:nvSpPr>
        <p:spPr>
          <a:xfrm>
            <a:off x="255451" y="1477004"/>
            <a:ext cx="17789391" cy="118748"/>
          </a:xfrm>
          <a:prstGeom prst="line">
            <a:avLst/>
          </a:prstGeom>
          <a:ln w="38100" cap="flat">
            <a:solidFill>
              <a:srgbClr val="000000"/>
            </a:solidFill>
            <a:prstDash val="solid"/>
            <a:headEnd type="none" w="sm" len="sm"/>
            <a:tailEnd type="none" w="sm" len="sm"/>
          </a:ln>
        </p:spPr>
      </p:sp>
      <p:sp>
        <p:nvSpPr>
          <p:cNvPr id="21" name="AutoShape 21"/>
          <p:cNvSpPr/>
          <p:nvPr/>
        </p:nvSpPr>
        <p:spPr>
          <a:xfrm>
            <a:off x="12245039" y="1595752"/>
            <a:ext cx="0" cy="7862390"/>
          </a:xfrm>
          <a:prstGeom prst="line">
            <a:avLst/>
          </a:prstGeom>
          <a:ln w="38100" cap="flat">
            <a:solidFill>
              <a:srgbClr val="000000"/>
            </a:solidFill>
            <a:prstDash val="solid"/>
            <a:headEnd type="none" w="sm" len="sm"/>
            <a:tailEnd type="none" w="sm" len="sm"/>
          </a:ln>
        </p:spPr>
      </p:sp>
      <p:sp>
        <p:nvSpPr>
          <p:cNvPr id="22" name="TextBox 22"/>
          <p:cNvSpPr txBox="1"/>
          <p:nvPr/>
        </p:nvSpPr>
        <p:spPr>
          <a:xfrm>
            <a:off x="6547411" y="1457954"/>
            <a:ext cx="5697627" cy="8020050"/>
          </a:xfrm>
          <a:prstGeom prst="rect">
            <a:avLst/>
          </a:prstGeom>
        </p:spPr>
        <p:txBody>
          <a:bodyPr lIns="0" tIns="0" rIns="0" bIns="0" rtlCol="0" anchor="t">
            <a:spAutoFit/>
          </a:bodyPr>
          <a:lstStyle/>
          <a:p>
            <a:pPr algn="ctr">
              <a:lnSpc>
                <a:spcPts val="2812"/>
              </a:lnSpc>
            </a:pPr>
            <a:r>
              <a:rPr lang="en-US" sz="2343" b="1">
                <a:solidFill>
                  <a:srgbClr val="000000"/>
                </a:solidFill>
                <a:latin typeface="Times New Roman Bold"/>
                <a:ea typeface="Times New Roman Bold"/>
                <a:cs typeface="Times New Roman Bold"/>
                <a:sym typeface="Times New Roman Bold"/>
              </a:rPr>
              <a:t>HOW THE SYSTEM WORKS</a:t>
            </a:r>
          </a:p>
          <a:p>
            <a:pPr marL="425159" lvl="1" indent="-212580" algn="l">
              <a:lnSpc>
                <a:spcPts val="2363"/>
              </a:lnSpc>
              <a:buFont typeface="Arial"/>
              <a:buChar char="•"/>
            </a:pPr>
            <a:r>
              <a:rPr lang="en-US" sz="1969" b="1">
                <a:solidFill>
                  <a:srgbClr val="000000"/>
                </a:solidFill>
                <a:latin typeface="Times New Roman Bold"/>
                <a:ea typeface="Times New Roman Bold"/>
                <a:cs typeface="Times New Roman Bold"/>
                <a:sym typeface="Times New Roman Bold"/>
              </a:rPr>
              <a:t>Create Patient Profile:</a:t>
            </a:r>
            <a:r>
              <a:rPr lang="en-US" sz="1969">
                <a:solidFill>
                  <a:srgbClr val="000000"/>
                </a:solidFill>
                <a:latin typeface="Times New Roman"/>
                <a:ea typeface="Times New Roman"/>
                <a:cs typeface="Times New Roman"/>
                <a:sym typeface="Times New Roman"/>
              </a:rPr>
              <a:t>Patient preferences, language and basic cognitive-assistance requirements are configured.</a:t>
            </a:r>
          </a:p>
          <a:p>
            <a:pPr algn="l">
              <a:lnSpc>
                <a:spcPts val="2363"/>
              </a:lnSpc>
            </a:pPr>
            <a:endParaRPr lang="en-US" sz="1969">
              <a:solidFill>
                <a:srgbClr val="000000"/>
              </a:solidFill>
              <a:latin typeface="Times New Roman"/>
              <a:ea typeface="Times New Roman"/>
              <a:cs typeface="Times New Roman"/>
              <a:sym typeface="Times New Roman"/>
            </a:endParaRPr>
          </a:p>
          <a:p>
            <a:pPr marL="425159" lvl="1" indent="-212580" algn="l">
              <a:lnSpc>
                <a:spcPts val="2363"/>
              </a:lnSpc>
              <a:buFont typeface="Arial"/>
              <a:buChar char="•"/>
            </a:pPr>
            <a:r>
              <a:rPr lang="en-US" sz="1969" b="1">
                <a:solidFill>
                  <a:srgbClr val="000000"/>
                </a:solidFill>
                <a:latin typeface="Times New Roman Bold"/>
                <a:ea typeface="Times New Roman Bold"/>
                <a:cs typeface="Times New Roman Bold"/>
                <a:sym typeface="Times New Roman Bold"/>
              </a:rPr>
              <a:t>Assess Performance:</a:t>
            </a:r>
            <a:r>
              <a:rPr lang="en-US" sz="1969">
                <a:solidFill>
                  <a:srgbClr val="000000"/>
                </a:solidFill>
                <a:latin typeface="Times New Roman"/>
                <a:ea typeface="Times New Roman"/>
                <a:cs typeface="Times New Roman"/>
                <a:sym typeface="Times New Roman"/>
              </a:rPr>
              <a:t>The patient performs short cognitive games targeting memory, attention, pattern and recognition abilities.</a:t>
            </a:r>
          </a:p>
          <a:p>
            <a:pPr algn="l">
              <a:lnSpc>
                <a:spcPts val="2363"/>
              </a:lnSpc>
            </a:pPr>
            <a:endParaRPr lang="en-US" sz="1969">
              <a:solidFill>
                <a:srgbClr val="000000"/>
              </a:solidFill>
              <a:latin typeface="Times New Roman"/>
              <a:ea typeface="Times New Roman"/>
              <a:cs typeface="Times New Roman"/>
              <a:sym typeface="Times New Roman"/>
            </a:endParaRPr>
          </a:p>
          <a:p>
            <a:pPr marL="425159" lvl="1" indent="-212580" algn="l">
              <a:lnSpc>
                <a:spcPts val="2363"/>
              </a:lnSpc>
              <a:buFont typeface="Arial"/>
              <a:buChar char="•"/>
            </a:pPr>
            <a:r>
              <a:rPr lang="en-US" sz="1969" b="1">
                <a:solidFill>
                  <a:srgbClr val="000000"/>
                </a:solidFill>
                <a:latin typeface="Times New Roman Bold"/>
                <a:ea typeface="Times New Roman Bold"/>
                <a:cs typeface="Times New Roman Bold"/>
                <a:sym typeface="Times New Roman Bold"/>
              </a:rPr>
              <a:t>Collect Performance Data:</a:t>
            </a:r>
            <a:r>
              <a:rPr lang="en-US" sz="1969">
                <a:solidFill>
                  <a:srgbClr val="000000"/>
                </a:solidFill>
                <a:latin typeface="Times New Roman"/>
                <a:ea typeface="Times New Roman"/>
                <a:cs typeface="Times New Roman"/>
                <a:sym typeface="Times New Roman"/>
              </a:rPr>
              <a:t>Accuracy, response time, mistakes, hints and game completion are recorded.</a:t>
            </a:r>
          </a:p>
          <a:p>
            <a:pPr algn="l">
              <a:lnSpc>
                <a:spcPts val="2363"/>
              </a:lnSpc>
            </a:pPr>
            <a:endParaRPr lang="en-US" sz="1969">
              <a:solidFill>
                <a:srgbClr val="000000"/>
              </a:solidFill>
              <a:latin typeface="Times New Roman"/>
              <a:ea typeface="Times New Roman"/>
              <a:cs typeface="Times New Roman"/>
              <a:sym typeface="Times New Roman"/>
            </a:endParaRPr>
          </a:p>
          <a:p>
            <a:pPr marL="425159" lvl="1" indent="-212580" algn="l">
              <a:lnSpc>
                <a:spcPts val="2363"/>
              </a:lnSpc>
              <a:buFont typeface="Arial"/>
              <a:buChar char="•"/>
            </a:pPr>
            <a:r>
              <a:rPr lang="en-US" sz="1969" b="1">
                <a:solidFill>
                  <a:srgbClr val="000000"/>
                </a:solidFill>
                <a:latin typeface="Times New Roman Bold"/>
                <a:ea typeface="Times New Roman Bold"/>
                <a:cs typeface="Times New Roman Bold"/>
                <a:sym typeface="Times New Roman Bold"/>
              </a:rPr>
              <a:t>AI-Based Adaptation:</a:t>
            </a:r>
            <a:r>
              <a:rPr lang="en-US" sz="1969">
                <a:solidFill>
                  <a:srgbClr val="000000"/>
                </a:solidFill>
                <a:latin typeface="Times New Roman"/>
                <a:ea typeface="Times New Roman"/>
                <a:cs typeface="Times New Roman"/>
                <a:sym typeface="Times New Roman"/>
              </a:rPr>
              <a:t>The ML engine analyzes performance and predicts the appropriate difficulty level for the next activity.</a:t>
            </a:r>
          </a:p>
          <a:p>
            <a:pPr algn="l">
              <a:lnSpc>
                <a:spcPts val="2363"/>
              </a:lnSpc>
            </a:pPr>
            <a:endParaRPr lang="en-US" sz="1969">
              <a:solidFill>
                <a:srgbClr val="000000"/>
              </a:solidFill>
              <a:latin typeface="Times New Roman"/>
              <a:ea typeface="Times New Roman"/>
              <a:cs typeface="Times New Roman"/>
              <a:sym typeface="Times New Roman"/>
            </a:endParaRPr>
          </a:p>
          <a:p>
            <a:pPr marL="425159" lvl="1" indent="-212580" algn="l">
              <a:lnSpc>
                <a:spcPts val="2363"/>
              </a:lnSpc>
              <a:buFont typeface="Arial"/>
              <a:buChar char="•"/>
            </a:pPr>
            <a:r>
              <a:rPr lang="en-US" sz="1969" b="1">
                <a:solidFill>
                  <a:srgbClr val="000000"/>
                </a:solidFill>
                <a:latin typeface="Times New Roman Bold"/>
                <a:ea typeface="Times New Roman Bold"/>
                <a:cs typeface="Times New Roman Bold"/>
                <a:sym typeface="Times New Roman Bold"/>
              </a:rPr>
              <a:t>Personalized Cognitive Session:</a:t>
            </a:r>
            <a:r>
              <a:rPr lang="en-US" sz="1969">
                <a:solidFill>
                  <a:srgbClr val="000000"/>
                </a:solidFill>
                <a:latin typeface="Times New Roman"/>
                <a:ea typeface="Times New Roman"/>
                <a:cs typeface="Times New Roman"/>
                <a:sym typeface="Times New Roman"/>
              </a:rPr>
              <a:t>The system provides easier or more challenging activities based on individual performance.</a:t>
            </a:r>
          </a:p>
          <a:p>
            <a:pPr algn="l">
              <a:lnSpc>
                <a:spcPts val="2363"/>
              </a:lnSpc>
            </a:pPr>
            <a:endParaRPr lang="en-US" sz="1969">
              <a:solidFill>
                <a:srgbClr val="000000"/>
              </a:solidFill>
              <a:latin typeface="Times New Roman"/>
              <a:ea typeface="Times New Roman"/>
              <a:cs typeface="Times New Roman"/>
              <a:sym typeface="Times New Roman"/>
            </a:endParaRPr>
          </a:p>
          <a:p>
            <a:pPr marL="425159" lvl="1" indent="-212580" algn="l">
              <a:lnSpc>
                <a:spcPts val="2363"/>
              </a:lnSpc>
              <a:buFont typeface="Arial"/>
              <a:buChar char="•"/>
            </a:pPr>
            <a:r>
              <a:rPr lang="en-US" sz="1969" b="1">
                <a:solidFill>
                  <a:srgbClr val="000000"/>
                </a:solidFill>
                <a:latin typeface="Times New Roman Bold"/>
                <a:ea typeface="Times New Roman Bold"/>
                <a:cs typeface="Times New Roman Bold"/>
                <a:sym typeface="Times New Roman Bold"/>
              </a:rPr>
              <a:t>Daily Assistance:</a:t>
            </a:r>
            <a:r>
              <a:rPr lang="en-US" sz="1969">
                <a:solidFill>
                  <a:srgbClr val="000000"/>
                </a:solidFill>
                <a:latin typeface="Times New Roman"/>
                <a:ea typeface="Times New Roman"/>
                <a:cs typeface="Times New Roman"/>
                <a:sym typeface="Times New Roman"/>
              </a:rPr>
              <a:t>Medicine, hydration, activity and appointment reminders are delivered through simple visual and voice interactions.</a:t>
            </a:r>
          </a:p>
          <a:p>
            <a:pPr algn="l">
              <a:lnSpc>
                <a:spcPts val="2363"/>
              </a:lnSpc>
            </a:pPr>
            <a:endParaRPr lang="en-US" sz="1969">
              <a:solidFill>
                <a:srgbClr val="000000"/>
              </a:solidFill>
              <a:latin typeface="Times New Roman"/>
              <a:ea typeface="Times New Roman"/>
              <a:cs typeface="Times New Roman"/>
              <a:sym typeface="Times New Roman"/>
            </a:endParaRPr>
          </a:p>
          <a:p>
            <a:pPr marL="425159" lvl="1" indent="-212580" algn="l">
              <a:lnSpc>
                <a:spcPts val="2363"/>
              </a:lnSpc>
              <a:buFont typeface="Arial"/>
              <a:buChar char="•"/>
            </a:pPr>
            <a:r>
              <a:rPr lang="en-US" sz="1969" b="1">
                <a:solidFill>
                  <a:srgbClr val="000000"/>
                </a:solidFill>
                <a:latin typeface="Times New Roman Bold"/>
                <a:ea typeface="Times New Roman Bold"/>
                <a:cs typeface="Times New Roman Bold"/>
                <a:sym typeface="Times New Roman Bold"/>
              </a:rPr>
              <a:t>Caregiver Insights:</a:t>
            </a:r>
            <a:r>
              <a:rPr lang="en-US" sz="1969">
                <a:solidFill>
                  <a:srgbClr val="000000"/>
                </a:solidFill>
                <a:latin typeface="Times New Roman"/>
                <a:ea typeface="Times New Roman"/>
                <a:cs typeface="Times New Roman"/>
                <a:sym typeface="Times New Roman"/>
              </a:rPr>
              <a:t>Progress and performance trends are presented through a caregiver dashboard.</a:t>
            </a:r>
          </a:p>
        </p:txBody>
      </p:sp>
      <p:sp>
        <p:nvSpPr>
          <p:cNvPr id="23" name="TextBox 23"/>
          <p:cNvSpPr txBox="1"/>
          <p:nvPr/>
        </p:nvSpPr>
        <p:spPr>
          <a:xfrm>
            <a:off x="12245099" y="1553204"/>
            <a:ext cx="5855785" cy="7904939"/>
          </a:xfrm>
          <a:prstGeom prst="rect">
            <a:avLst/>
          </a:prstGeom>
        </p:spPr>
        <p:txBody>
          <a:bodyPr lIns="0" tIns="0" rIns="0" bIns="0" rtlCol="0" anchor="t">
            <a:spAutoFit/>
          </a:bodyPr>
          <a:lstStyle/>
          <a:p>
            <a:pPr algn="ctr">
              <a:lnSpc>
                <a:spcPts val="2250"/>
              </a:lnSpc>
            </a:pPr>
            <a:r>
              <a:rPr lang="en-US" sz="1875" b="1">
                <a:solidFill>
                  <a:srgbClr val="000000"/>
                </a:solidFill>
                <a:latin typeface="Times New Roman Bold"/>
                <a:ea typeface="Times New Roman Bold"/>
                <a:cs typeface="Times New Roman Bold"/>
                <a:sym typeface="Times New Roman Bold"/>
              </a:rPr>
              <a:t>TECHNICAL SUPPORT</a:t>
            </a:r>
          </a:p>
          <a:p>
            <a:pPr marL="366278" lvl="1" indent="-183139" algn="l">
              <a:lnSpc>
                <a:spcPts val="2035"/>
              </a:lnSpc>
              <a:buFont typeface="Arial"/>
              <a:buChar char="•"/>
            </a:pPr>
            <a:r>
              <a:rPr lang="en-US" sz="1696" b="1">
                <a:solidFill>
                  <a:srgbClr val="000000"/>
                </a:solidFill>
                <a:latin typeface="Times New Roman Bold"/>
                <a:ea typeface="Times New Roman Bold"/>
                <a:cs typeface="Times New Roman Bold"/>
                <a:sym typeface="Times New Roman Bold"/>
              </a:rPr>
              <a:t>Frontend: </a:t>
            </a:r>
            <a:r>
              <a:rPr lang="en-US" sz="1696">
                <a:solidFill>
                  <a:srgbClr val="000000"/>
                </a:solidFill>
                <a:latin typeface="Times New Roman"/>
                <a:ea typeface="Times New Roman"/>
                <a:cs typeface="Times New Roman"/>
                <a:sym typeface="Times New Roman"/>
              </a:rPr>
              <a:t>Next.js + React + TypeScript + Tailwind CSS</a:t>
            </a:r>
          </a:p>
          <a:p>
            <a:pPr marL="366278" lvl="1" indent="-183139" algn="l">
              <a:lnSpc>
                <a:spcPts val="2035"/>
              </a:lnSpc>
              <a:buFont typeface="Arial"/>
              <a:buChar char="•"/>
            </a:pPr>
            <a:r>
              <a:rPr lang="en-US" sz="1696" b="1">
                <a:solidFill>
                  <a:srgbClr val="000000"/>
                </a:solidFill>
                <a:latin typeface="Times New Roman Bold"/>
                <a:ea typeface="Times New Roman Bold"/>
                <a:cs typeface="Times New Roman Bold"/>
                <a:sym typeface="Times New Roman Bold"/>
              </a:rPr>
              <a:t>Backend:</a:t>
            </a:r>
            <a:r>
              <a:rPr lang="en-US" sz="1696">
                <a:solidFill>
                  <a:srgbClr val="000000"/>
                </a:solidFill>
                <a:latin typeface="Times New Roman"/>
                <a:ea typeface="Times New Roman"/>
                <a:cs typeface="Times New Roman"/>
                <a:sym typeface="Times New Roman"/>
              </a:rPr>
              <a:t> Python + FastAPI</a:t>
            </a:r>
          </a:p>
          <a:p>
            <a:pPr marL="366278" lvl="1" indent="-183139" algn="l">
              <a:lnSpc>
                <a:spcPts val="2035"/>
              </a:lnSpc>
              <a:buFont typeface="Arial"/>
              <a:buChar char="•"/>
            </a:pPr>
            <a:r>
              <a:rPr lang="en-US" sz="1696" b="1">
                <a:solidFill>
                  <a:srgbClr val="000000"/>
                </a:solidFill>
                <a:latin typeface="Times New Roman Bold"/>
                <a:ea typeface="Times New Roman Bold"/>
                <a:cs typeface="Times New Roman Bold"/>
                <a:sym typeface="Times New Roman Bold"/>
              </a:rPr>
              <a:t>ML: </a:t>
            </a:r>
            <a:r>
              <a:rPr lang="en-US" sz="1696">
                <a:solidFill>
                  <a:srgbClr val="000000"/>
                </a:solidFill>
                <a:latin typeface="Times New Roman"/>
                <a:ea typeface="Times New Roman"/>
                <a:cs typeface="Times New Roman"/>
                <a:sym typeface="Times New Roman"/>
              </a:rPr>
              <a:t>XGBoost + scikit-learn</a:t>
            </a:r>
          </a:p>
          <a:p>
            <a:pPr marL="366278" lvl="1" indent="-183139" algn="l">
              <a:lnSpc>
                <a:spcPts val="2035"/>
              </a:lnSpc>
              <a:buFont typeface="Arial"/>
              <a:buChar char="•"/>
            </a:pPr>
            <a:r>
              <a:rPr lang="en-US" sz="1696" b="1">
                <a:solidFill>
                  <a:srgbClr val="000000"/>
                </a:solidFill>
                <a:latin typeface="Times New Roman Bold"/>
                <a:ea typeface="Times New Roman Bold"/>
                <a:cs typeface="Times New Roman Bold"/>
                <a:sym typeface="Times New Roman Bold"/>
              </a:rPr>
              <a:t>AI/Voice: </a:t>
            </a:r>
            <a:r>
              <a:rPr lang="en-US" sz="1696">
                <a:solidFill>
                  <a:srgbClr val="000000"/>
                </a:solidFill>
                <a:latin typeface="Times New Roman"/>
                <a:ea typeface="Times New Roman"/>
                <a:cs typeface="Times New Roman"/>
                <a:sym typeface="Times New Roman"/>
              </a:rPr>
              <a:t>OpenAI Realtime API for voice-based interaction and assistance</a:t>
            </a:r>
          </a:p>
          <a:p>
            <a:pPr marL="366278" lvl="1" indent="-183139" algn="l">
              <a:lnSpc>
                <a:spcPts val="2035"/>
              </a:lnSpc>
              <a:buFont typeface="Arial"/>
              <a:buChar char="•"/>
            </a:pPr>
            <a:r>
              <a:rPr lang="en-US" sz="1696" b="1">
                <a:solidFill>
                  <a:srgbClr val="000000"/>
                </a:solidFill>
                <a:latin typeface="Times New Roman Bold"/>
                <a:ea typeface="Times New Roman Bold"/>
                <a:cs typeface="Times New Roman Bold"/>
                <a:sym typeface="Times New Roman Bold"/>
              </a:rPr>
              <a:t> Database: </a:t>
            </a:r>
            <a:r>
              <a:rPr lang="en-US" sz="1696">
                <a:solidFill>
                  <a:srgbClr val="000000"/>
                </a:solidFill>
                <a:latin typeface="Times New Roman"/>
                <a:ea typeface="Times New Roman"/>
                <a:cs typeface="Times New Roman"/>
                <a:sym typeface="Times New Roman"/>
              </a:rPr>
              <a:t>PostgreSQL</a:t>
            </a:r>
          </a:p>
          <a:p>
            <a:pPr marL="366278" lvl="1" indent="-183139" algn="l">
              <a:lnSpc>
                <a:spcPts val="2035"/>
              </a:lnSpc>
              <a:buFont typeface="Arial"/>
              <a:buChar char="•"/>
            </a:pPr>
            <a:r>
              <a:rPr lang="en-US" sz="1696" b="1">
                <a:solidFill>
                  <a:srgbClr val="000000"/>
                </a:solidFill>
                <a:latin typeface="Times New Roman Bold"/>
                <a:ea typeface="Times New Roman Bold"/>
                <a:cs typeface="Times New Roman Bold"/>
                <a:sym typeface="Times New Roman Bold"/>
              </a:rPr>
              <a:t>Authentication:</a:t>
            </a:r>
            <a:r>
              <a:rPr lang="en-US" sz="1696">
                <a:solidFill>
                  <a:srgbClr val="000000"/>
                </a:solidFill>
                <a:latin typeface="Times New Roman"/>
                <a:ea typeface="Times New Roman"/>
                <a:cs typeface="Times New Roman"/>
                <a:sym typeface="Times New Roman"/>
              </a:rPr>
              <a:t> Supabase Auth</a:t>
            </a:r>
          </a:p>
          <a:p>
            <a:pPr marL="366278" lvl="1" indent="-183139" algn="l">
              <a:lnSpc>
                <a:spcPts val="2035"/>
              </a:lnSpc>
              <a:buFont typeface="Arial"/>
              <a:buChar char="•"/>
            </a:pPr>
            <a:r>
              <a:rPr lang="en-US" sz="1696" b="1">
                <a:solidFill>
                  <a:srgbClr val="000000"/>
                </a:solidFill>
                <a:latin typeface="Times New Roman Bold"/>
                <a:ea typeface="Times New Roman Bold"/>
                <a:cs typeface="Times New Roman Bold"/>
                <a:sym typeface="Times New Roman Bold"/>
              </a:rPr>
              <a:t>Data:</a:t>
            </a:r>
            <a:r>
              <a:rPr lang="en-US" sz="1696">
                <a:solidFill>
                  <a:srgbClr val="000000"/>
                </a:solidFill>
                <a:latin typeface="Times New Roman"/>
                <a:ea typeface="Times New Roman"/>
                <a:cs typeface="Times New Roman"/>
                <a:sym typeface="Times New Roman"/>
              </a:rPr>
              <a:t> Game performance, response time, accuracy, mistakes, reminders and patient preferences</a:t>
            </a:r>
          </a:p>
          <a:p>
            <a:pPr marL="366278" lvl="1" indent="-183139" algn="l">
              <a:lnSpc>
                <a:spcPts val="2035"/>
              </a:lnSpc>
              <a:buFont typeface="Arial"/>
              <a:buChar char="•"/>
            </a:pPr>
            <a:r>
              <a:rPr lang="en-US" sz="1696" b="1">
                <a:solidFill>
                  <a:srgbClr val="000000"/>
                </a:solidFill>
                <a:latin typeface="Times New Roman Bold"/>
                <a:ea typeface="Times New Roman Bold"/>
                <a:cs typeface="Times New Roman Bold"/>
                <a:sym typeface="Times New Roman Bold"/>
              </a:rPr>
              <a:t>Communication: </a:t>
            </a:r>
            <a:r>
              <a:rPr lang="en-US" sz="1696">
                <a:solidFill>
                  <a:srgbClr val="000000"/>
                </a:solidFill>
                <a:latin typeface="Times New Roman"/>
                <a:ea typeface="Times New Roman"/>
                <a:cs typeface="Times New Roman"/>
                <a:sym typeface="Times New Roman"/>
              </a:rPr>
              <a:t>REST API / JSON</a:t>
            </a:r>
          </a:p>
          <a:p>
            <a:pPr marL="366278" lvl="1" indent="-183139" algn="l">
              <a:lnSpc>
                <a:spcPts val="2035"/>
              </a:lnSpc>
              <a:buFont typeface="Arial"/>
              <a:buChar char="•"/>
            </a:pPr>
            <a:r>
              <a:rPr lang="en-US" sz="1696" b="1">
                <a:solidFill>
                  <a:srgbClr val="000000"/>
                </a:solidFill>
                <a:latin typeface="Times New Roman Bold"/>
                <a:ea typeface="Times New Roman Bold"/>
                <a:cs typeface="Times New Roman Bold"/>
                <a:sym typeface="Times New Roman Bold"/>
              </a:rPr>
              <a:t>Inference: </a:t>
            </a:r>
            <a:r>
              <a:rPr lang="en-US" sz="1696">
                <a:solidFill>
                  <a:srgbClr val="000000"/>
                </a:solidFill>
                <a:latin typeface="Times New Roman"/>
                <a:ea typeface="Times New Roman"/>
                <a:cs typeface="Times New Roman"/>
                <a:sym typeface="Times New Roman"/>
              </a:rPr>
              <a:t>Server-side ML model execution</a:t>
            </a:r>
          </a:p>
          <a:p>
            <a:pPr algn="ctr">
              <a:lnSpc>
                <a:spcPts val="2250"/>
              </a:lnSpc>
            </a:pPr>
            <a:r>
              <a:rPr lang="en-US" sz="1875" b="1">
                <a:solidFill>
                  <a:srgbClr val="000000"/>
                </a:solidFill>
                <a:latin typeface="Times New Roman Bold"/>
                <a:ea typeface="Times New Roman Bold"/>
                <a:cs typeface="Times New Roman Bold"/>
                <a:sym typeface="Times New Roman Bold"/>
              </a:rPr>
              <a:t>WHAT MAKES IT DIFFERENT</a:t>
            </a:r>
          </a:p>
          <a:p>
            <a:pPr marL="385557" lvl="1" indent="-192778" algn="l">
              <a:lnSpc>
                <a:spcPts val="2142"/>
              </a:lnSpc>
              <a:buFont typeface="Arial"/>
              <a:buChar char="•"/>
            </a:pPr>
            <a:r>
              <a:rPr lang="en-US" sz="1785" b="1">
                <a:solidFill>
                  <a:srgbClr val="000000"/>
                </a:solidFill>
                <a:latin typeface="Times New Roman Bold"/>
                <a:ea typeface="Times New Roman Bold"/>
                <a:cs typeface="Times New Roman Bold"/>
                <a:sym typeface="Times New Roman Bold"/>
              </a:rPr>
              <a:t> Adaptive Cognitive Training:</a:t>
            </a:r>
            <a:r>
              <a:rPr lang="en-US" sz="1785">
                <a:solidFill>
                  <a:srgbClr val="000000"/>
                </a:solidFill>
                <a:latin typeface="Times New Roman"/>
                <a:ea typeface="Times New Roman"/>
                <a:cs typeface="Times New Roman"/>
                <a:sym typeface="Times New Roman"/>
              </a:rPr>
              <a:t> Game difficulty changes according to each patient's individual performance instead of using fixed difficulty levels</a:t>
            </a:r>
            <a:r>
              <a:rPr lang="en-US" sz="1785" b="1">
                <a:solidFill>
                  <a:srgbClr val="000000"/>
                </a:solidFill>
                <a:latin typeface="Times New Roman Bold"/>
                <a:ea typeface="Times New Roman Bold"/>
                <a:cs typeface="Times New Roman Bold"/>
                <a:sym typeface="Times New Roman Bold"/>
              </a:rPr>
              <a:t>.</a:t>
            </a:r>
          </a:p>
          <a:p>
            <a:pPr marL="385557" lvl="1" indent="-192778" algn="l">
              <a:lnSpc>
                <a:spcPts val="2142"/>
              </a:lnSpc>
              <a:buFont typeface="Arial"/>
              <a:buChar char="•"/>
            </a:pPr>
            <a:r>
              <a:rPr lang="en-US" sz="1785" b="1">
                <a:solidFill>
                  <a:srgbClr val="000000"/>
                </a:solidFill>
                <a:latin typeface="Times New Roman Bold"/>
                <a:ea typeface="Times New Roman Bold"/>
                <a:cs typeface="Times New Roman Bold"/>
                <a:sym typeface="Times New Roman Bold"/>
              </a:rPr>
              <a:t> Multi-dimensional Assistance: </a:t>
            </a:r>
            <a:r>
              <a:rPr lang="en-US" sz="1785">
                <a:solidFill>
                  <a:srgbClr val="000000"/>
                </a:solidFill>
                <a:latin typeface="Times New Roman"/>
                <a:ea typeface="Times New Roman"/>
                <a:cs typeface="Times New Roman"/>
                <a:sym typeface="Times New Roman"/>
              </a:rPr>
              <a:t>Combines cognitive training with medicine, hydration, activity and appointment reminders.</a:t>
            </a:r>
          </a:p>
          <a:p>
            <a:pPr marL="385557" lvl="1" indent="-192778" algn="l">
              <a:lnSpc>
                <a:spcPts val="2142"/>
              </a:lnSpc>
              <a:buFont typeface="Arial"/>
              <a:buChar char="•"/>
            </a:pPr>
            <a:r>
              <a:rPr lang="en-US" sz="1785" b="1">
                <a:solidFill>
                  <a:srgbClr val="000000"/>
                </a:solidFill>
                <a:latin typeface="Times New Roman Bold"/>
                <a:ea typeface="Times New Roman Bold"/>
                <a:cs typeface="Times New Roman Bold"/>
                <a:sym typeface="Times New Roman Bold"/>
              </a:rPr>
              <a:t>Voice-first Accessibility: </a:t>
            </a:r>
            <a:r>
              <a:rPr lang="en-US" sz="1785">
                <a:solidFill>
                  <a:srgbClr val="000000"/>
                </a:solidFill>
                <a:latin typeface="Times New Roman"/>
                <a:ea typeface="Times New Roman"/>
                <a:cs typeface="Times New Roman"/>
                <a:sym typeface="Times New Roman"/>
              </a:rPr>
              <a:t>Reduces dependence on typing and complex navigation for elderly users.</a:t>
            </a:r>
          </a:p>
          <a:p>
            <a:pPr marL="385557" lvl="1" indent="-192778" algn="l">
              <a:lnSpc>
                <a:spcPts val="2142"/>
              </a:lnSpc>
              <a:buFont typeface="Arial"/>
              <a:buChar char="•"/>
            </a:pPr>
            <a:r>
              <a:rPr lang="en-US" sz="1785" b="1">
                <a:solidFill>
                  <a:srgbClr val="000000"/>
                </a:solidFill>
                <a:latin typeface="Times New Roman Bold"/>
                <a:ea typeface="Times New Roman Bold"/>
                <a:cs typeface="Times New Roman Bold"/>
                <a:sym typeface="Times New Roman Bold"/>
              </a:rPr>
              <a:t>NER-Centric Personalization: </a:t>
            </a:r>
            <a:r>
              <a:rPr lang="en-US" sz="1785">
                <a:solidFill>
                  <a:srgbClr val="000000"/>
                </a:solidFill>
                <a:latin typeface="Times New Roman"/>
                <a:ea typeface="Times New Roman"/>
                <a:cs typeface="Times New Roman"/>
                <a:sym typeface="Times New Roman"/>
              </a:rPr>
              <a:t>Regional languages, familiar visuals, sounds and cultural themes are incorporated to improve comfort and engagement.</a:t>
            </a:r>
          </a:p>
          <a:p>
            <a:pPr marL="385557" lvl="1" indent="-192778" algn="l">
              <a:lnSpc>
                <a:spcPts val="2142"/>
              </a:lnSpc>
              <a:buFont typeface="Arial"/>
              <a:buChar char="•"/>
            </a:pPr>
            <a:r>
              <a:rPr lang="en-US" sz="1785" b="1">
                <a:solidFill>
                  <a:srgbClr val="000000"/>
                </a:solidFill>
                <a:latin typeface="Times New Roman Bold"/>
                <a:ea typeface="Times New Roman Bold"/>
                <a:cs typeface="Times New Roman Bold"/>
                <a:sym typeface="Times New Roman Bold"/>
              </a:rPr>
              <a:t>Patient-specific Learning: </a:t>
            </a:r>
            <a:r>
              <a:rPr lang="en-US" sz="1785">
                <a:solidFill>
                  <a:srgbClr val="000000"/>
                </a:solidFill>
                <a:latin typeface="Times New Roman"/>
                <a:ea typeface="Times New Roman"/>
                <a:cs typeface="Times New Roman"/>
                <a:sym typeface="Times New Roman"/>
              </a:rPr>
              <a:t>Memory, attention and pattern abilities can be tracked separately to provide targeted activities.</a:t>
            </a:r>
          </a:p>
          <a:p>
            <a:pPr marL="385557" lvl="1" indent="-192778" algn="l">
              <a:lnSpc>
                <a:spcPts val="2142"/>
              </a:lnSpc>
              <a:buFont typeface="Arial"/>
              <a:buChar char="•"/>
            </a:pPr>
            <a:r>
              <a:rPr lang="en-US" sz="1785" b="1">
                <a:solidFill>
                  <a:srgbClr val="000000"/>
                </a:solidFill>
                <a:latin typeface="Times New Roman Bold"/>
                <a:ea typeface="Times New Roman Bold"/>
                <a:cs typeface="Times New Roman Bold"/>
                <a:sym typeface="Times New Roman Bold"/>
              </a:rPr>
              <a:t>Caregiver Connectivity:</a:t>
            </a:r>
            <a:r>
              <a:rPr lang="en-US" sz="1785">
                <a:solidFill>
                  <a:srgbClr val="000000"/>
                </a:solidFill>
                <a:latin typeface="Times New Roman"/>
                <a:ea typeface="Times New Roman"/>
                <a:cs typeface="Times New Roman"/>
                <a:sym typeface="Times New Roman"/>
              </a:rPr>
              <a:t> Converts patient activity and performance into understandable progress insights for caregivers.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914400" y="-71438"/>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r>
                <a:rPr lang="en-US" sz="5400" b="1">
                  <a:solidFill>
                    <a:srgbClr val="000000"/>
                  </a:solidFill>
                  <a:latin typeface="Times New Roman Bold"/>
                  <a:ea typeface="Times New Roman Bold"/>
                  <a:cs typeface="Times New Roman Bold"/>
                  <a:sym typeface="Times New Roman Bold"/>
                </a:rPr>
                <a:t>TECHNICAL APPROACH</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3</a:t>
              </a:r>
            </a:p>
          </p:txBody>
        </p:sp>
      </p:grpSp>
      <p:grpSp>
        <p:nvGrpSpPr>
          <p:cNvPr id="10" name="Group 10"/>
          <p:cNvGrpSpPr/>
          <p:nvPr/>
        </p:nvGrpSpPr>
        <p:grpSpPr>
          <a:xfrm>
            <a:off x="6972300" y="9534525"/>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2">
                <a:alphaModFix amt="0"/>
              </a:blip>
              <a:stretch>
                <a:fillRect t="-120982" b="-120982"/>
              </a:stretch>
            </a:blipFill>
          </p:spPr>
        </p:sp>
        <p:sp>
          <p:nvSpPr>
            <p:cNvPr id="12" name="TextBox 12"/>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id="13" name="Group 13"/>
          <p:cNvGrpSpPr/>
          <p:nvPr/>
        </p:nvGrpSpPr>
        <p:grpSpPr>
          <a:xfrm>
            <a:off x="475612" y="359321"/>
            <a:ext cx="1915887" cy="1249101"/>
            <a:chOff x="0" y="0"/>
            <a:chExt cx="2554516" cy="1665468"/>
          </a:xfrm>
        </p:grpSpPr>
        <p:sp>
          <p:nvSpPr>
            <p:cNvPr id="14" name="Freeform 14" descr="Your startup LOGO"/>
            <p:cNvSpPr/>
            <p:nvPr/>
          </p:nvSpPr>
          <p:spPr>
            <a:xfrm>
              <a:off x="0" y="0"/>
              <a:ext cx="2554478" cy="1665481"/>
            </a:xfrm>
            <a:custGeom>
              <a:avLst/>
              <a:gdLst/>
              <a:ahLst/>
              <a:cxnLst/>
              <a:rect l="l" t="t" r="r" b="b"/>
              <a:pathLst>
                <a:path w="2554478" h="1665481">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id="15" name="TextBox 15"/>
            <p:cNvSpPr txBox="1"/>
            <p:nvPr/>
          </p:nvSpPr>
          <p:spPr>
            <a:xfrm>
              <a:off x="0" y="-57150"/>
              <a:ext cx="2554516" cy="1722618"/>
            </a:xfrm>
            <a:prstGeom prst="rect">
              <a:avLst/>
            </a:prstGeom>
          </p:spPr>
          <p:txBody>
            <a:bodyPr lIns="50800" tIns="50800" rIns="50800" bIns="50800" rtlCol="0" anchor="ctr"/>
            <a:lstStyle/>
            <a:p>
              <a:pPr algn="ctr">
                <a:lnSpc>
                  <a:spcPts val="3240"/>
                </a:lnSpc>
              </a:pPr>
              <a:r>
                <a:rPr lang="en-US" sz="2700">
                  <a:solidFill>
                    <a:srgbClr val="000000"/>
                  </a:solidFill>
                  <a:latin typeface="Calibri (MS)"/>
                  <a:ea typeface="Calibri (MS)"/>
                  <a:cs typeface="Calibri (MS)"/>
                  <a:sym typeface="Calibri (MS)"/>
                </a:rPr>
                <a:t>Byte Force</a:t>
              </a:r>
            </a:p>
          </p:txBody>
        </p:sp>
      </p:grpSp>
      <p:grpSp>
        <p:nvGrpSpPr>
          <p:cNvPr id="16" name="Group 16"/>
          <p:cNvGrpSpPr/>
          <p:nvPr/>
        </p:nvGrpSpPr>
        <p:grpSpPr>
          <a:xfrm>
            <a:off x="14670129" y="2248"/>
            <a:ext cx="3374774" cy="1593504"/>
            <a:chOff x="0" y="0"/>
            <a:chExt cx="4499699" cy="2124672"/>
          </a:xfrm>
        </p:grpSpPr>
        <p:sp>
          <p:nvSpPr>
            <p:cNvPr id="17" name="Freeform 17"/>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3"/>
              <a:stretch>
                <a:fillRect b="1"/>
              </a:stretch>
            </a:blipFill>
          </p:spPr>
        </p:sp>
      </p:grpSp>
      <p:sp>
        <p:nvSpPr>
          <p:cNvPr id="18" name="AutoShape 18"/>
          <p:cNvSpPr/>
          <p:nvPr/>
        </p:nvSpPr>
        <p:spPr>
          <a:xfrm flipH="1">
            <a:off x="10517265" y="1667374"/>
            <a:ext cx="0" cy="7864770"/>
          </a:xfrm>
          <a:prstGeom prst="line">
            <a:avLst/>
          </a:prstGeom>
          <a:ln w="38100" cap="flat">
            <a:solidFill>
              <a:srgbClr val="000000"/>
            </a:solidFill>
            <a:prstDash val="solid"/>
            <a:headEnd type="none" w="sm" len="sm"/>
            <a:tailEnd type="none" w="sm" len="sm"/>
          </a:ln>
        </p:spPr>
      </p:sp>
      <p:sp>
        <p:nvSpPr>
          <p:cNvPr id="19" name="Freeform 19"/>
          <p:cNvSpPr/>
          <p:nvPr/>
        </p:nvSpPr>
        <p:spPr>
          <a:xfrm>
            <a:off x="221734" y="2247882"/>
            <a:ext cx="10295530" cy="5813545"/>
          </a:xfrm>
          <a:custGeom>
            <a:avLst/>
            <a:gdLst/>
            <a:ahLst/>
            <a:cxnLst/>
            <a:rect l="l" t="t" r="r" b="b"/>
            <a:pathLst>
              <a:path w="10295530" h="5813545">
                <a:moveTo>
                  <a:pt x="0" y="0"/>
                </a:moveTo>
                <a:lnTo>
                  <a:pt x="10295531" y="0"/>
                </a:lnTo>
                <a:lnTo>
                  <a:pt x="10295531" y="5813545"/>
                </a:lnTo>
                <a:lnTo>
                  <a:pt x="0" y="5813545"/>
                </a:lnTo>
                <a:lnTo>
                  <a:pt x="0" y="0"/>
                </a:lnTo>
                <a:close/>
              </a:path>
            </a:pathLst>
          </a:custGeom>
          <a:blipFill>
            <a:blip r:embed="rId4"/>
            <a:stretch>
              <a:fillRect l="-192" r="-192"/>
            </a:stretch>
          </a:blipFill>
        </p:spPr>
      </p:sp>
      <p:sp>
        <p:nvSpPr>
          <p:cNvPr id="20" name="TextBox 20"/>
          <p:cNvSpPr txBox="1"/>
          <p:nvPr/>
        </p:nvSpPr>
        <p:spPr>
          <a:xfrm>
            <a:off x="10517265" y="1624013"/>
            <a:ext cx="7770735" cy="7790348"/>
          </a:xfrm>
          <a:prstGeom prst="rect">
            <a:avLst/>
          </a:prstGeom>
        </p:spPr>
        <p:txBody>
          <a:bodyPr lIns="0" tIns="0" rIns="0" bIns="0" rtlCol="0" anchor="t">
            <a:spAutoFit/>
          </a:bodyPr>
          <a:lstStyle/>
          <a:p>
            <a:pPr marL="393980" lvl="1" indent="-196990" algn="l">
              <a:lnSpc>
                <a:spcPts val="2189"/>
              </a:lnSpc>
              <a:buFont typeface="Arial"/>
              <a:buChar char="•"/>
            </a:pPr>
            <a:r>
              <a:rPr lang="en-US" sz="1824" b="1">
                <a:solidFill>
                  <a:srgbClr val="000000"/>
                </a:solidFill>
                <a:latin typeface="Times New Roman Bold"/>
                <a:ea typeface="Times New Roman Bold"/>
                <a:cs typeface="Times New Roman Bold"/>
                <a:sym typeface="Times New Roman Bold"/>
              </a:rPr>
              <a:t>Technologies to be Used</a:t>
            </a:r>
            <a:r>
              <a:rPr lang="en-US" sz="1824">
                <a:solidFill>
                  <a:srgbClr val="000000"/>
                </a:solidFill>
                <a:latin typeface="Times New Roman"/>
                <a:ea typeface="Times New Roman"/>
                <a:cs typeface="Times New Roman"/>
                <a:sym typeface="Times New Roman"/>
              </a:rPr>
              <a:t>: Next.js, React, TypeScript, Tailwind CSS, Python, FastAPI, XGBoost, scikit-learn and PostgreSQL for developing the web-based cognitive assistance platform.</a:t>
            </a:r>
          </a:p>
          <a:p>
            <a:pPr marL="393980" lvl="1" indent="-196990" algn="l">
              <a:lnSpc>
                <a:spcPts val="2189"/>
              </a:lnSpc>
              <a:buFont typeface="Arial"/>
              <a:buChar char="•"/>
            </a:pPr>
            <a:r>
              <a:rPr lang="en-US" sz="1824" b="1">
                <a:solidFill>
                  <a:srgbClr val="000000"/>
                </a:solidFill>
                <a:latin typeface="Times New Roman Bold"/>
                <a:ea typeface="Times New Roman Bold"/>
                <a:cs typeface="Times New Roman Bold"/>
                <a:sym typeface="Times New Roman Bold"/>
              </a:rPr>
              <a:t>Patient Interaction:</a:t>
            </a:r>
            <a:r>
              <a:rPr lang="en-US" sz="1824">
                <a:solidFill>
                  <a:srgbClr val="000000"/>
                </a:solidFill>
                <a:latin typeface="Times New Roman"/>
                <a:ea typeface="Times New Roman"/>
                <a:cs typeface="Times New Roman"/>
                <a:sym typeface="Times New Roman"/>
              </a:rPr>
              <a:t> A simple, accessible interface with large visual elements, touch-based cognitive games and voice-assisted interaction designed for elderly users.</a:t>
            </a:r>
          </a:p>
          <a:p>
            <a:pPr marL="393980" lvl="1" indent="-196990" algn="l">
              <a:lnSpc>
                <a:spcPts val="2189"/>
              </a:lnSpc>
              <a:buFont typeface="Arial"/>
              <a:buChar char="•"/>
            </a:pPr>
            <a:r>
              <a:rPr lang="en-US" sz="1824" b="1">
                <a:solidFill>
                  <a:srgbClr val="000000"/>
                </a:solidFill>
                <a:latin typeface="Times New Roman Bold"/>
                <a:ea typeface="Times New Roman Bold"/>
                <a:cs typeface="Times New Roman Bold"/>
                <a:sym typeface="Times New Roman Bold"/>
              </a:rPr>
              <a:t>Cognitive Game Engine:</a:t>
            </a:r>
            <a:r>
              <a:rPr lang="en-US" sz="1824">
                <a:solidFill>
                  <a:srgbClr val="000000"/>
                </a:solidFill>
                <a:latin typeface="Times New Roman"/>
                <a:ea typeface="Times New Roman"/>
                <a:cs typeface="Times New Roman"/>
                <a:sym typeface="Times New Roman"/>
              </a:rPr>
              <a:t> Interactive games are designed around memory, attention, concentration, daily routine recall, pattern recognition and object recognition. Game performance such as accuracy, response time, mistakes and hints is recorded for every session.</a:t>
            </a:r>
          </a:p>
          <a:p>
            <a:pPr marL="393980" lvl="1" indent="-196990" algn="l">
              <a:lnSpc>
                <a:spcPts val="2189"/>
              </a:lnSpc>
              <a:buFont typeface="Arial"/>
              <a:buChar char="•"/>
            </a:pPr>
            <a:r>
              <a:rPr lang="en-US" sz="1824" b="1">
                <a:solidFill>
                  <a:srgbClr val="000000"/>
                </a:solidFill>
                <a:latin typeface="Times New Roman Bold"/>
                <a:ea typeface="Times New Roman Bold"/>
                <a:cs typeface="Times New Roman Bold"/>
                <a:sym typeface="Times New Roman Bold"/>
              </a:rPr>
              <a:t>AI/ML Personalization:</a:t>
            </a:r>
            <a:r>
              <a:rPr lang="en-US" sz="1824">
                <a:solidFill>
                  <a:srgbClr val="000000"/>
                </a:solidFill>
                <a:latin typeface="Times New Roman"/>
                <a:ea typeface="Times New Roman"/>
                <a:cs typeface="Times New Roman"/>
                <a:sym typeface="Times New Roman"/>
              </a:rPr>
              <a:t> Performance features are processed using scikit-learn and an XGBoost model to estimate the appropriate difficulty level for each cognitive activity and personalize subsequent sessions</a:t>
            </a:r>
          </a:p>
          <a:p>
            <a:pPr marL="393980" lvl="1" indent="-196990" algn="l">
              <a:lnSpc>
                <a:spcPts val="2189"/>
              </a:lnSpc>
              <a:buFont typeface="Arial"/>
              <a:buChar char="•"/>
            </a:pPr>
            <a:r>
              <a:rPr lang="en-US" sz="1824" b="1">
                <a:solidFill>
                  <a:srgbClr val="000000"/>
                </a:solidFill>
                <a:latin typeface="Times New Roman Bold"/>
                <a:ea typeface="Times New Roman Bold"/>
                <a:cs typeface="Times New Roman Bold"/>
                <a:sym typeface="Times New Roman Bold"/>
              </a:rPr>
              <a:t>Adaptive Difficulty:</a:t>
            </a:r>
            <a:r>
              <a:rPr lang="en-US" sz="1824">
                <a:solidFill>
                  <a:srgbClr val="000000"/>
                </a:solidFill>
                <a:latin typeface="Times New Roman"/>
                <a:ea typeface="Times New Roman"/>
                <a:cs typeface="Times New Roman"/>
                <a:sym typeface="Times New Roman"/>
              </a:rPr>
              <a:t> The system dynamically increases, maintains or reduces difficulty based on individual performance, enabling personalized cognitive training rather than fixed-level gameplay.</a:t>
            </a:r>
          </a:p>
          <a:p>
            <a:pPr marL="393980" lvl="1" indent="-196990" algn="l">
              <a:lnSpc>
                <a:spcPts val="2189"/>
              </a:lnSpc>
              <a:buFont typeface="Arial"/>
              <a:buChar char="•"/>
            </a:pPr>
            <a:r>
              <a:rPr lang="en-US" sz="1824" b="1">
                <a:solidFill>
                  <a:srgbClr val="000000"/>
                </a:solidFill>
                <a:latin typeface="Times New Roman Bold"/>
                <a:ea typeface="Times New Roman Bold"/>
                <a:cs typeface="Times New Roman Bold"/>
                <a:sym typeface="Times New Roman Bold"/>
              </a:rPr>
              <a:t>Memory Assistance:</a:t>
            </a:r>
            <a:r>
              <a:rPr lang="en-US" sz="1824">
                <a:solidFill>
                  <a:srgbClr val="000000"/>
                </a:solidFill>
                <a:latin typeface="Times New Roman"/>
                <a:ea typeface="Times New Roman"/>
                <a:cs typeface="Times New Roman"/>
                <a:sym typeface="Times New Roman"/>
              </a:rPr>
              <a:t> A reminder engine manages medicines, hydration, daily activities and medical appointments and presents them through visual and voice-based notifications.</a:t>
            </a:r>
          </a:p>
          <a:p>
            <a:pPr marL="393980" lvl="1" indent="-196990" algn="l">
              <a:lnSpc>
                <a:spcPts val="2189"/>
              </a:lnSpc>
              <a:buFont typeface="Arial"/>
              <a:buChar char="•"/>
            </a:pPr>
            <a:r>
              <a:rPr lang="en-US" sz="1824" b="1">
                <a:solidFill>
                  <a:srgbClr val="000000"/>
                </a:solidFill>
                <a:latin typeface="Times New Roman Bold"/>
                <a:ea typeface="Times New Roman Bold"/>
                <a:cs typeface="Times New Roman Bold"/>
                <a:sym typeface="Times New Roman Bold"/>
              </a:rPr>
              <a:t>Multilingual &amp; Regional Support:</a:t>
            </a:r>
            <a:r>
              <a:rPr lang="en-US" sz="1824">
                <a:solidFill>
                  <a:srgbClr val="000000"/>
                </a:solidFill>
                <a:latin typeface="Times New Roman"/>
                <a:ea typeface="Times New Roman"/>
                <a:cs typeface="Times New Roman"/>
                <a:sym typeface="Times New Roman"/>
              </a:rPr>
              <a:t> The platform is designed to support multiple languages and incorporate culturally familiar NER-related visuals, sounds, themes and everyday objects.</a:t>
            </a:r>
          </a:p>
          <a:p>
            <a:pPr marL="393980" lvl="1" indent="-196990" algn="l">
              <a:lnSpc>
                <a:spcPts val="2189"/>
              </a:lnSpc>
              <a:buFont typeface="Arial"/>
              <a:buChar char="•"/>
            </a:pPr>
            <a:r>
              <a:rPr lang="en-US" sz="1824" b="1">
                <a:solidFill>
                  <a:srgbClr val="000000"/>
                </a:solidFill>
                <a:latin typeface="Times New Roman Bold"/>
                <a:ea typeface="Times New Roman Bold"/>
                <a:cs typeface="Times New Roman Bold"/>
                <a:sym typeface="Times New Roman Bold"/>
              </a:rPr>
              <a:t>Caregiver Dashboard: </a:t>
            </a:r>
            <a:r>
              <a:rPr lang="en-US" sz="1824">
                <a:solidFill>
                  <a:srgbClr val="000000"/>
                </a:solidFill>
                <a:latin typeface="Times New Roman"/>
                <a:ea typeface="Times New Roman"/>
                <a:cs typeface="Times New Roman"/>
                <a:sym typeface="Times New Roman"/>
              </a:rPr>
              <a:t>Patient game performance, cognitive activity trends, session history and reminder adherence are presented to caregivers for continuous monitoring and support.</a:t>
            </a:r>
          </a:p>
          <a:p>
            <a:pPr marL="393980" lvl="1" indent="-196990" algn="l">
              <a:lnSpc>
                <a:spcPts val="2189"/>
              </a:lnSpc>
              <a:buFont typeface="Arial"/>
              <a:buChar char="•"/>
            </a:pPr>
            <a:r>
              <a:rPr lang="en-US" sz="1824" b="1">
                <a:solidFill>
                  <a:srgbClr val="000000"/>
                </a:solidFill>
                <a:latin typeface="Times New Roman Bold"/>
                <a:ea typeface="Times New Roman Bold"/>
                <a:cs typeface="Times New Roman Bold"/>
                <a:sym typeface="Times New Roman Bold"/>
              </a:rPr>
              <a:t>Backend &amp; Data: </a:t>
            </a:r>
            <a:r>
              <a:rPr lang="en-US" sz="1824">
                <a:solidFill>
                  <a:srgbClr val="000000"/>
                </a:solidFill>
                <a:latin typeface="Times New Roman"/>
                <a:ea typeface="Times New Roman"/>
                <a:cs typeface="Times New Roman"/>
                <a:sym typeface="Times New Roman"/>
              </a:rPr>
              <a:t>FastAPI provides REST APIs for patient profiles, game sessions, performance tracking, AI inference and reminders, while PostgreSQL stores application and performance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914400" y="-71438"/>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r>
                <a:rPr lang="en-US" sz="5400" b="1">
                  <a:solidFill>
                    <a:srgbClr val="000000"/>
                  </a:solidFill>
                  <a:latin typeface="Times New Roman Bold"/>
                  <a:ea typeface="Times New Roman Bold"/>
                  <a:cs typeface="Times New Roman Bold"/>
                  <a:sym typeface="Times New Roman Bold"/>
                </a:rPr>
                <a:t>FEASIBILITY AND VIABILITY</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4</a:t>
              </a:r>
            </a:p>
          </p:txBody>
        </p:sp>
      </p:grpSp>
      <p:grpSp>
        <p:nvGrpSpPr>
          <p:cNvPr id="10" name="Group 10"/>
          <p:cNvGrpSpPr/>
          <p:nvPr/>
        </p:nvGrpSpPr>
        <p:grpSpPr>
          <a:xfrm>
            <a:off x="6972300" y="9534525"/>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2">
                <a:alphaModFix amt="0"/>
              </a:blip>
              <a:stretch>
                <a:fillRect t="-120982" b="-120982"/>
              </a:stretch>
            </a:blipFill>
          </p:spPr>
        </p:sp>
        <p:sp>
          <p:nvSpPr>
            <p:cNvPr id="12" name="TextBox 12"/>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id="13" name="Group 13"/>
          <p:cNvGrpSpPr/>
          <p:nvPr/>
        </p:nvGrpSpPr>
        <p:grpSpPr>
          <a:xfrm>
            <a:off x="475612" y="359321"/>
            <a:ext cx="1915887" cy="1249101"/>
            <a:chOff x="0" y="0"/>
            <a:chExt cx="2554516" cy="1665468"/>
          </a:xfrm>
        </p:grpSpPr>
        <p:sp>
          <p:nvSpPr>
            <p:cNvPr id="14" name="Freeform 14" descr="Your startup LOGO"/>
            <p:cNvSpPr/>
            <p:nvPr/>
          </p:nvSpPr>
          <p:spPr>
            <a:xfrm>
              <a:off x="0" y="0"/>
              <a:ext cx="2554478" cy="1665481"/>
            </a:xfrm>
            <a:custGeom>
              <a:avLst/>
              <a:gdLst/>
              <a:ahLst/>
              <a:cxnLst/>
              <a:rect l="l" t="t" r="r" b="b"/>
              <a:pathLst>
                <a:path w="2554478" h="1665481">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id="15" name="TextBox 15"/>
            <p:cNvSpPr txBox="1"/>
            <p:nvPr/>
          </p:nvSpPr>
          <p:spPr>
            <a:xfrm>
              <a:off x="0" y="-57150"/>
              <a:ext cx="2554516" cy="1722618"/>
            </a:xfrm>
            <a:prstGeom prst="rect">
              <a:avLst/>
            </a:prstGeom>
          </p:spPr>
          <p:txBody>
            <a:bodyPr lIns="50800" tIns="50800" rIns="50800" bIns="50800" rtlCol="0" anchor="ctr"/>
            <a:lstStyle/>
            <a:p>
              <a:pPr algn="ctr">
                <a:lnSpc>
                  <a:spcPts val="3240"/>
                </a:lnSpc>
              </a:pPr>
              <a:r>
                <a:rPr lang="en-US" sz="2700">
                  <a:solidFill>
                    <a:srgbClr val="000000"/>
                  </a:solidFill>
                  <a:latin typeface="Calibri (MS)"/>
                  <a:ea typeface="Calibri (MS)"/>
                  <a:cs typeface="Calibri (MS)"/>
                  <a:sym typeface="Calibri (MS)"/>
                </a:rPr>
                <a:t>Byte Force</a:t>
              </a:r>
            </a:p>
          </p:txBody>
        </p:sp>
      </p:grpSp>
      <p:grpSp>
        <p:nvGrpSpPr>
          <p:cNvPr id="16" name="Group 16"/>
          <p:cNvGrpSpPr/>
          <p:nvPr/>
        </p:nvGrpSpPr>
        <p:grpSpPr>
          <a:xfrm>
            <a:off x="14670129" y="2248"/>
            <a:ext cx="3374774" cy="1593504"/>
            <a:chOff x="0" y="0"/>
            <a:chExt cx="4499699" cy="2124672"/>
          </a:xfrm>
        </p:grpSpPr>
        <p:sp>
          <p:nvSpPr>
            <p:cNvPr id="17" name="Freeform 17"/>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3"/>
              <a:stretch>
                <a:fillRect b="1"/>
              </a:stretch>
            </a:blipFill>
          </p:spPr>
        </p:sp>
      </p:grpSp>
      <p:sp>
        <p:nvSpPr>
          <p:cNvPr id="18" name="TextBox 18"/>
          <p:cNvSpPr txBox="1"/>
          <p:nvPr/>
        </p:nvSpPr>
        <p:spPr>
          <a:xfrm>
            <a:off x="475612" y="1942075"/>
            <a:ext cx="17569291" cy="561975"/>
          </a:xfrm>
          <a:prstGeom prst="rect">
            <a:avLst/>
          </a:prstGeom>
        </p:spPr>
        <p:txBody>
          <a:bodyPr lIns="0" tIns="0" rIns="0" bIns="0" rtlCol="0" anchor="t">
            <a:spAutoFit/>
          </a:bodyPr>
          <a:lstStyle/>
          <a:p>
            <a:pPr algn="l">
              <a:lnSpc>
                <a:spcPts val="4200"/>
              </a:lnSpc>
              <a:spcBef>
                <a:spcPct val="0"/>
              </a:spcBef>
            </a:pPr>
            <a:r>
              <a:rPr lang="en-US" sz="3500" b="1">
                <a:solidFill>
                  <a:srgbClr val="000000"/>
                </a:solidFill>
                <a:latin typeface="Times New Roman Bold"/>
                <a:ea typeface="Times New Roman Bold"/>
                <a:cs typeface="Times New Roman Bold"/>
                <a:sym typeface="Times New Roman Bold"/>
              </a:rPr>
              <a:t> AREA                                FEASIBLITY                           RISK                   MITIGATION</a:t>
            </a:r>
          </a:p>
        </p:txBody>
      </p:sp>
      <p:sp>
        <p:nvSpPr>
          <p:cNvPr id="19" name="TextBox 19"/>
          <p:cNvSpPr txBox="1"/>
          <p:nvPr/>
        </p:nvSpPr>
        <p:spPr>
          <a:xfrm>
            <a:off x="0" y="3016128"/>
            <a:ext cx="3705242" cy="6123356"/>
          </a:xfrm>
          <a:prstGeom prst="rect">
            <a:avLst/>
          </a:prstGeom>
        </p:spPr>
        <p:txBody>
          <a:bodyPr lIns="0" tIns="0" rIns="0" bIns="0" rtlCol="0" anchor="t">
            <a:spAutoFit/>
          </a:bodyPr>
          <a:lstStyle/>
          <a:p>
            <a:pPr algn="l">
              <a:lnSpc>
                <a:spcPts val="2638"/>
              </a:lnSpc>
            </a:pPr>
            <a:r>
              <a:rPr lang="en-US" sz="2199" b="1">
                <a:solidFill>
                  <a:srgbClr val="000000"/>
                </a:solidFill>
                <a:latin typeface="Times New Roman Bold"/>
                <a:ea typeface="Times New Roman Bold"/>
                <a:cs typeface="Times New Roman Bold"/>
                <a:sym typeface="Times New Roman Bold"/>
              </a:rPr>
              <a:t>TECHNICAL</a:t>
            </a:r>
          </a:p>
          <a:p>
            <a:pPr algn="ctr">
              <a:lnSpc>
                <a:spcPts val="2638"/>
              </a:lnSpc>
            </a:pPr>
            <a:endParaRPr lang="en-US" sz="2199" b="1">
              <a:solidFill>
                <a:srgbClr val="000000"/>
              </a:solidFill>
              <a:latin typeface="Times New Roman Bold"/>
              <a:ea typeface="Times New Roman Bold"/>
              <a:cs typeface="Times New Roman Bold"/>
              <a:sym typeface="Times New Roman Bold"/>
            </a:endParaRPr>
          </a:p>
          <a:p>
            <a:pPr algn="l">
              <a:lnSpc>
                <a:spcPts val="2638"/>
              </a:lnSpc>
            </a:pPr>
            <a:endParaRPr lang="en-US" sz="2199" b="1">
              <a:solidFill>
                <a:srgbClr val="000000"/>
              </a:solidFill>
              <a:latin typeface="Times New Roman Bold"/>
              <a:ea typeface="Times New Roman Bold"/>
              <a:cs typeface="Times New Roman Bold"/>
              <a:sym typeface="Times New Roman Bold"/>
            </a:endParaRPr>
          </a:p>
          <a:p>
            <a:pPr algn="l">
              <a:lnSpc>
                <a:spcPts val="2638"/>
              </a:lnSpc>
            </a:pPr>
            <a:r>
              <a:rPr lang="en-US" sz="2199" b="1">
                <a:solidFill>
                  <a:srgbClr val="000000"/>
                </a:solidFill>
                <a:latin typeface="Times New Roman Bold"/>
                <a:ea typeface="Times New Roman Bold"/>
                <a:cs typeface="Times New Roman Bold"/>
                <a:sym typeface="Times New Roman Bold"/>
              </a:rPr>
              <a:t>DATA</a:t>
            </a:r>
          </a:p>
          <a:p>
            <a:pPr algn="l">
              <a:lnSpc>
                <a:spcPts val="2638"/>
              </a:lnSpc>
            </a:pPr>
            <a:endParaRPr lang="en-US" sz="2199" b="1">
              <a:solidFill>
                <a:srgbClr val="000000"/>
              </a:solidFill>
              <a:latin typeface="Times New Roman Bold"/>
              <a:ea typeface="Times New Roman Bold"/>
              <a:cs typeface="Times New Roman Bold"/>
              <a:sym typeface="Times New Roman Bold"/>
            </a:endParaRPr>
          </a:p>
          <a:p>
            <a:pPr algn="ctr">
              <a:lnSpc>
                <a:spcPts val="2638"/>
              </a:lnSpc>
            </a:pPr>
            <a:endParaRPr lang="en-US" sz="2199" b="1">
              <a:solidFill>
                <a:srgbClr val="000000"/>
              </a:solidFill>
              <a:latin typeface="Times New Roman Bold"/>
              <a:ea typeface="Times New Roman Bold"/>
              <a:cs typeface="Times New Roman Bold"/>
              <a:sym typeface="Times New Roman Bold"/>
            </a:endParaRPr>
          </a:p>
          <a:p>
            <a:pPr algn="l">
              <a:lnSpc>
                <a:spcPts val="2638"/>
              </a:lnSpc>
            </a:pPr>
            <a:r>
              <a:rPr lang="en-US" sz="2199" b="1">
                <a:solidFill>
                  <a:srgbClr val="000000"/>
                </a:solidFill>
                <a:latin typeface="Times New Roman Bold"/>
                <a:ea typeface="Times New Roman Bold"/>
                <a:cs typeface="Times New Roman Bold"/>
                <a:sym typeface="Times New Roman Bold"/>
              </a:rPr>
              <a:t>ACCESSIBLITY</a:t>
            </a:r>
          </a:p>
          <a:p>
            <a:pPr algn="ctr">
              <a:lnSpc>
                <a:spcPts val="2638"/>
              </a:lnSpc>
            </a:pPr>
            <a:endParaRPr lang="en-US" sz="2199" b="1">
              <a:solidFill>
                <a:srgbClr val="000000"/>
              </a:solidFill>
              <a:latin typeface="Times New Roman Bold"/>
              <a:ea typeface="Times New Roman Bold"/>
              <a:cs typeface="Times New Roman Bold"/>
              <a:sym typeface="Times New Roman Bold"/>
            </a:endParaRPr>
          </a:p>
          <a:p>
            <a:pPr algn="l">
              <a:lnSpc>
                <a:spcPts val="2638"/>
              </a:lnSpc>
            </a:pPr>
            <a:r>
              <a:rPr lang="en-US" sz="2199" b="1">
                <a:solidFill>
                  <a:srgbClr val="000000"/>
                </a:solidFill>
                <a:latin typeface="Times New Roman Bold"/>
                <a:ea typeface="Times New Roman Bold"/>
                <a:cs typeface="Times New Roman Bold"/>
                <a:sym typeface="Times New Roman Bold"/>
              </a:rPr>
              <a:t>MULTILINGUAL &amp; REGIONAL</a:t>
            </a:r>
          </a:p>
          <a:p>
            <a:pPr algn="l">
              <a:lnSpc>
                <a:spcPts val="2638"/>
              </a:lnSpc>
            </a:pPr>
            <a:endParaRPr lang="en-US" sz="2199" b="1">
              <a:solidFill>
                <a:srgbClr val="000000"/>
              </a:solidFill>
              <a:latin typeface="Times New Roman Bold"/>
              <a:ea typeface="Times New Roman Bold"/>
              <a:cs typeface="Times New Roman Bold"/>
              <a:sym typeface="Times New Roman Bold"/>
            </a:endParaRPr>
          </a:p>
          <a:p>
            <a:pPr algn="l">
              <a:lnSpc>
                <a:spcPts val="2638"/>
              </a:lnSpc>
            </a:pPr>
            <a:r>
              <a:rPr lang="en-US" sz="2199" b="1">
                <a:solidFill>
                  <a:srgbClr val="000000"/>
                </a:solidFill>
                <a:latin typeface="Times New Roman Bold"/>
                <a:ea typeface="Times New Roman Bold"/>
                <a:cs typeface="Times New Roman Bold"/>
                <a:sym typeface="Times New Roman Bold"/>
              </a:rPr>
              <a:t>CONNECTIVITY</a:t>
            </a:r>
          </a:p>
          <a:p>
            <a:pPr algn="l">
              <a:lnSpc>
                <a:spcPts val="2638"/>
              </a:lnSpc>
            </a:pPr>
            <a:endParaRPr lang="en-US" sz="2199" b="1">
              <a:solidFill>
                <a:srgbClr val="000000"/>
              </a:solidFill>
              <a:latin typeface="Times New Roman Bold"/>
              <a:ea typeface="Times New Roman Bold"/>
              <a:cs typeface="Times New Roman Bold"/>
              <a:sym typeface="Times New Roman Bold"/>
            </a:endParaRPr>
          </a:p>
          <a:p>
            <a:pPr algn="l">
              <a:lnSpc>
                <a:spcPts val="2638"/>
              </a:lnSpc>
            </a:pPr>
            <a:r>
              <a:rPr lang="en-US" sz="2199" b="1">
                <a:solidFill>
                  <a:srgbClr val="000000"/>
                </a:solidFill>
                <a:latin typeface="Times New Roman Bold"/>
                <a:ea typeface="Times New Roman Bold"/>
                <a:cs typeface="Times New Roman Bold"/>
                <a:sym typeface="Times New Roman Bold"/>
              </a:rPr>
              <a:t>PRIVACY &amp; SECURITY</a:t>
            </a:r>
          </a:p>
          <a:p>
            <a:pPr algn="ctr">
              <a:lnSpc>
                <a:spcPts val="2638"/>
              </a:lnSpc>
            </a:pPr>
            <a:endParaRPr lang="en-US" sz="2199" b="1">
              <a:solidFill>
                <a:srgbClr val="000000"/>
              </a:solidFill>
              <a:latin typeface="Times New Roman Bold"/>
              <a:ea typeface="Times New Roman Bold"/>
              <a:cs typeface="Times New Roman Bold"/>
              <a:sym typeface="Times New Roman Bold"/>
            </a:endParaRPr>
          </a:p>
          <a:p>
            <a:pPr algn="l">
              <a:lnSpc>
                <a:spcPts val="2638"/>
              </a:lnSpc>
            </a:pPr>
            <a:r>
              <a:rPr lang="en-US" sz="2199" b="1">
                <a:solidFill>
                  <a:srgbClr val="000000"/>
                </a:solidFill>
                <a:latin typeface="Times New Roman Bold"/>
                <a:ea typeface="Times New Roman Bold"/>
                <a:cs typeface="Times New Roman Bold"/>
                <a:sym typeface="Times New Roman Bold"/>
              </a:rPr>
              <a:t>DEPLOYMENT</a:t>
            </a:r>
          </a:p>
          <a:p>
            <a:pPr algn="ctr">
              <a:lnSpc>
                <a:spcPts val="3302"/>
              </a:lnSpc>
            </a:pPr>
            <a:endParaRPr lang="en-US" sz="2199" b="1">
              <a:solidFill>
                <a:srgbClr val="000000"/>
              </a:solidFill>
              <a:latin typeface="Times New Roman Bold"/>
              <a:ea typeface="Times New Roman Bold"/>
              <a:cs typeface="Times New Roman Bold"/>
              <a:sym typeface="Times New Roman Bold"/>
            </a:endParaRPr>
          </a:p>
          <a:p>
            <a:pPr algn="just">
              <a:lnSpc>
                <a:spcPts val="3302"/>
              </a:lnSpc>
              <a:spcBef>
                <a:spcPct val="0"/>
              </a:spcBef>
            </a:pPr>
            <a:endParaRPr lang="en-US" sz="2199" b="1">
              <a:solidFill>
                <a:srgbClr val="000000"/>
              </a:solidFill>
              <a:latin typeface="Times New Roman Bold"/>
              <a:ea typeface="Times New Roman Bold"/>
              <a:cs typeface="Times New Roman Bold"/>
              <a:sym typeface="Times New Roman Bold"/>
            </a:endParaRPr>
          </a:p>
        </p:txBody>
      </p:sp>
      <p:sp>
        <p:nvSpPr>
          <p:cNvPr id="20" name="TextBox 20"/>
          <p:cNvSpPr txBox="1"/>
          <p:nvPr/>
        </p:nvSpPr>
        <p:spPr>
          <a:xfrm>
            <a:off x="3705242" y="2802269"/>
            <a:ext cx="5438758" cy="933450"/>
          </a:xfrm>
          <a:prstGeom prst="rect">
            <a:avLst/>
          </a:prstGeom>
        </p:spPr>
        <p:txBody>
          <a:bodyPr lIns="0" tIns="0" rIns="0" bIns="0" rtlCol="0" anchor="t">
            <a:spAutoFit/>
          </a:bodyPr>
          <a:lstStyle/>
          <a:p>
            <a:pPr algn="just">
              <a:lnSpc>
                <a:spcPts val="2400"/>
              </a:lnSpc>
            </a:pPr>
            <a:r>
              <a:rPr lang="en-US" sz="2000">
                <a:solidFill>
                  <a:srgbClr val="000000"/>
                </a:solidFill>
                <a:latin typeface="Times New Roman"/>
                <a:ea typeface="Times New Roman"/>
                <a:cs typeface="Times New Roman"/>
                <a:sym typeface="Times New Roman"/>
              </a:rPr>
              <a:t>Next.js, React, FastAPI, PostgreSQL and XGBoost </a:t>
            </a:r>
          </a:p>
          <a:p>
            <a:pPr algn="just">
              <a:lnSpc>
                <a:spcPts val="2400"/>
              </a:lnSpc>
              <a:spcBef>
                <a:spcPct val="0"/>
              </a:spcBef>
            </a:pPr>
            <a:r>
              <a:rPr lang="en-US" sz="2000">
                <a:solidFill>
                  <a:srgbClr val="000000"/>
                </a:solidFill>
                <a:latin typeface="Times New Roman"/>
                <a:ea typeface="Times New Roman"/>
                <a:cs typeface="Times New Roman"/>
                <a:sym typeface="Times New Roman"/>
              </a:rPr>
              <a:t>provide a practical stack for developing the complete platform</a:t>
            </a:r>
          </a:p>
        </p:txBody>
      </p:sp>
      <p:sp>
        <p:nvSpPr>
          <p:cNvPr id="21" name="TextBox 21"/>
          <p:cNvSpPr txBox="1"/>
          <p:nvPr/>
        </p:nvSpPr>
        <p:spPr>
          <a:xfrm>
            <a:off x="9375300" y="2774962"/>
            <a:ext cx="4204019" cy="933450"/>
          </a:xfrm>
          <a:prstGeom prst="rect">
            <a:avLst/>
          </a:prstGeom>
        </p:spPr>
        <p:txBody>
          <a:bodyPr lIns="0" tIns="0" rIns="0" bIns="0" rtlCol="0" anchor="t">
            <a:spAutoFit/>
          </a:bodyPr>
          <a:lstStyle/>
          <a:p>
            <a:pPr algn="just">
              <a:lnSpc>
                <a:spcPts val="2400"/>
              </a:lnSpc>
              <a:spcBef>
                <a:spcPct val="0"/>
              </a:spcBef>
            </a:pPr>
            <a:r>
              <a:rPr lang="en-US" sz="2000">
                <a:solidFill>
                  <a:srgbClr val="000000"/>
                </a:solidFill>
                <a:latin typeface="Times New Roman"/>
                <a:ea typeface="Times New Roman"/>
                <a:cs typeface="Times New Roman"/>
                <a:sym typeface="Times New Roman"/>
              </a:rPr>
              <a:t>AI personalization may depend on the quality and quantity of patient performance data</a:t>
            </a:r>
          </a:p>
        </p:txBody>
      </p:sp>
      <p:sp>
        <p:nvSpPr>
          <p:cNvPr id="22" name="TextBox 22"/>
          <p:cNvSpPr txBox="1"/>
          <p:nvPr/>
        </p:nvSpPr>
        <p:spPr>
          <a:xfrm>
            <a:off x="13579319" y="2864855"/>
            <a:ext cx="4708681" cy="857250"/>
          </a:xfrm>
          <a:prstGeom prst="rect">
            <a:avLst/>
          </a:prstGeom>
        </p:spPr>
        <p:txBody>
          <a:bodyPr lIns="0" tIns="0" rIns="0" bIns="0" rtlCol="0" anchor="t">
            <a:spAutoFit/>
          </a:bodyPr>
          <a:lstStyle/>
          <a:p>
            <a:pPr algn="just">
              <a:lnSpc>
                <a:spcPts val="2208"/>
              </a:lnSpc>
              <a:spcBef>
                <a:spcPct val="0"/>
              </a:spcBef>
            </a:pPr>
            <a:r>
              <a:rPr lang="en-US" sz="1840">
                <a:solidFill>
                  <a:srgbClr val="000000"/>
                </a:solidFill>
                <a:latin typeface="Times New Roman"/>
                <a:ea typeface="Times New Roman"/>
                <a:cs typeface="Times New Roman"/>
                <a:sym typeface="Times New Roman"/>
              </a:rPr>
              <a:t>Begin with rule-based adaptive logic and simulated/initial data, then improve the ML model as more validated data becomes available</a:t>
            </a:r>
          </a:p>
        </p:txBody>
      </p:sp>
      <p:sp>
        <p:nvSpPr>
          <p:cNvPr id="23" name="AutoShape 23"/>
          <p:cNvSpPr/>
          <p:nvPr/>
        </p:nvSpPr>
        <p:spPr>
          <a:xfrm>
            <a:off x="0" y="1808725"/>
            <a:ext cx="18288000" cy="0"/>
          </a:xfrm>
          <a:prstGeom prst="line">
            <a:avLst/>
          </a:prstGeom>
          <a:ln w="38100" cap="flat">
            <a:solidFill>
              <a:srgbClr val="000000"/>
            </a:solidFill>
            <a:prstDash val="solid"/>
            <a:headEnd type="none" w="sm" len="sm"/>
            <a:tailEnd type="none" w="sm" len="sm"/>
          </a:ln>
        </p:spPr>
      </p:sp>
      <p:sp>
        <p:nvSpPr>
          <p:cNvPr id="24" name="TextBox 24"/>
          <p:cNvSpPr txBox="1"/>
          <p:nvPr/>
        </p:nvSpPr>
        <p:spPr>
          <a:xfrm>
            <a:off x="3650793" y="3853444"/>
            <a:ext cx="5438758" cy="933450"/>
          </a:xfrm>
          <a:prstGeom prst="rect">
            <a:avLst/>
          </a:prstGeom>
        </p:spPr>
        <p:txBody>
          <a:bodyPr lIns="0" tIns="0" rIns="0" bIns="0" rtlCol="0" anchor="t">
            <a:spAutoFit/>
          </a:bodyPr>
          <a:lstStyle/>
          <a:p>
            <a:pPr algn="just">
              <a:lnSpc>
                <a:spcPts val="2400"/>
              </a:lnSpc>
              <a:spcBef>
                <a:spcPct val="0"/>
              </a:spcBef>
            </a:pPr>
            <a:r>
              <a:rPr lang="en-US" sz="2000">
                <a:solidFill>
                  <a:srgbClr val="000000"/>
                </a:solidFill>
                <a:latin typeface="Times New Roman"/>
                <a:ea typeface="Times New Roman"/>
                <a:cs typeface="Times New Roman"/>
                <a:sym typeface="Times New Roman"/>
              </a:rPr>
              <a:t>Game results such as accuracy, response time, mistakes and hints can be collected automatically during each session</a:t>
            </a:r>
          </a:p>
        </p:txBody>
      </p:sp>
      <p:sp>
        <p:nvSpPr>
          <p:cNvPr id="25" name="TextBox 25"/>
          <p:cNvSpPr txBox="1"/>
          <p:nvPr/>
        </p:nvSpPr>
        <p:spPr>
          <a:xfrm>
            <a:off x="9375300" y="3853444"/>
            <a:ext cx="3918611" cy="933450"/>
          </a:xfrm>
          <a:prstGeom prst="rect">
            <a:avLst/>
          </a:prstGeom>
        </p:spPr>
        <p:txBody>
          <a:bodyPr lIns="0" tIns="0" rIns="0" bIns="0" rtlCol="0" anchor="t">
            <a:spAutoFit/>
          </a:bodyPr>
          <a:lstStyle/>
          <a:p>
            <a:pPr algn="just">
              <a:lnSpc>
                <a:spcPts val="2400"/>
              </a:lnSpc>
              <a:spcBef>
                <a:spcPct val="0"/>
              </a:spcBef>
            </a:pPr>
            <a:r>
              <a:rPr lang="en-US" sz="2000">
                <a:solidFill>
                  <a:srgbClr val="000000"/>
                </a:solidFill>
                <a:latin typeface="Times New Roman"/>
                <a:ea typeface="Times New Roman"/>
                <a:cs typeface="Times New Roman"/>
                <a:sym typeface="Times New Roman"/>
              </a:rPr>
              <a:t>Regional language and cultural content may require additional data and validation</a:t>
            </a:r>
          </a:p>
        </p:txBody>
      </p:sp>
      <p:sp>
        <p:nvSpPr>
          <p:cNvPr id="26" name="TextBox 26"/>
          <p:cNvSpPr txBox="1"/>
          <p:nvPr/>
        </p:nvSpPr>
        <p:spPr>
          <a:xfrm>
            <a:off x="13579319" y="3832237"/>
            <a:ext cx="4708681" cy="933450"/>
          </a:xfrm>
          <a:prstGeom prst="rect">
            <a:avLst/>
          </a:prstGeom>
        </p:spPr>
        <p:txBody>
          <a:bodyPr lIns="0" tIns="0" rIns="0" bIns="0" rtlCol="0" anchor="t">
            <a:spAutoFit/>
          </a:bodyPr>
          <a:lstStyle/>
          <a:p>
            <a:pPr algn="just">
              <a:lnSpc>
                <a:spcPts val="2400"/>
              </a:lnSpc>
              <a:spcBef>
                <a:spcPct val="0"/>
              </a:spcBef>
            </a:pPr>
            <a:r>
              <a:rPr lang="en-US" sz="2000">
                <a:solidFill>
                  <a:srgbClr val="000000"/>
                </a:solidFill>
                <a:latin typeface="Times New Roman"/>
                <a:ea typeface="Times New Roman"/>
                <a:cs typeface="Times New Roman"/>
                <a:sym typeface="Times New Roman"/>
              </a:rPr>
              <a:t>Start with selected languages and expand through validated regional content and user feedback</a:t>
            </a:r>
          </a:p>
        </p:txBody>
      </p:sp>
      <p:sp>
        <p:nvSpPr>
          <p:cNvPr id="27" name="AutoShape 27"/>
          <p:cNvSpPr/>
          <p:nvPr/>
        </p:nvSpPr>
        <p:spPr>
          <a:xfrm>
            <a:off x="-67619" y="2672780"/>
            <a:ext cx="18311143" cy="0"/>
          </a:xfrm>
          <a:prstGeom prst="line">
            <a:avLst/>
          </a:prstGeom>
          <a:ln w="38100" cap="flat">
            <a:solidFill>
              <a:srgbClr val="000000"/>
            </a:solidFill>
            <a:prstDash val="solid"/>
            <a:headEnd type="none" w="sm" len="sm"/>
            <a:tailEnd type="none" w="sm" len="sm"/>
          </a:ln>
        </p:spPr>
      </p:sp>
      <p:sp>
        <p:nvSpPr>
          <p:cNvPr id="28" name="AutoShape 28"/>
          <p:cNvSpPr/>
          <p:nvPr/>
        </p:nvSpPr>
        <p:spPr>
          <a:xfrm>
            <a:off x="0" y="3842063"/>
            <a:ext cx="18101753" cy="9224"/>
          </a:xfrm>
          <a:prstGeom prst="line">
            <a:avLst/>
          </a:prstGeom>
          <a:ln w="38100" cap="flat">
            <a:solidFill>
              <a:srgbClr val="000000"/>
            </a:solidFill>
            <a:prstDash val="solid"/>
            <a:headEnd type="none" w="sm" len="sm"/>
            <a:tailEnd type="none" w="sm" len="sm"/>
          </a:ln>
        </p:spPr>
      </p:sp>
      <p:sp>
        <p:nvSpPr>
          <p:cNvPr id="29" name="AutoShape 29"/>
          <p:cNvSpPr/>
          <p:nvPr/>
        </p:nvSpPr>
        <p:spPr>
          <a:xfrm flipV="1">
            <a:off x="-385272" y="4765687"/>
            <a:ext cx="18673272" cy="0"/>
          </a:xfrm>
          <a:prstGeom prst="line">
            <a:avLst/>
          </a:prstGeom>
          <a:ln w="38100" cap="flat">
            <a:solidFill>
              <a:srgbClr val="000000"/>
            </a:solidFill>
            <a:prstDash val="solid"/>
            <a:headEnd type="none" w="sm" len="sm"/>
            <a:tailEnd type="none" w="sm" len="sm"/>
          </a:ln>
        </p:spPr>
      </p:sp>
      <p:sp>
        <p:nvSpPr>
          <p:cNvPr id="30" name="TextBox 30"/>
          <p:cNvSpPr txBox="1"/>
          <p:nvPr/>
        </p:nvSpPr>
        <p:spPr>
          <a:xfrm>
            <a:off x="3650793" y="4767844"/>
            <a:ext cx="5555015" cy="933450"/>
          </a:xfrm>
          <a:prstGeom prst="rect">
            <a:avLst/>
          </a:prstGeom>
        </p:spPr>
        <p:txBody>
          <a:bodyPr lIns="0" tIns="0" rIns="0" bIns="0" rtlCol="0" anchor="t">
            <a:spAutoFit/>
          </a:bodyPr>
          <a:lstStyle/>
          <a:p>
            <a:pPr algn="just">
              <a:lnSpc>
                <a:spcPts val="2400"/>
              </a:lnSpc>
              <a:spcBef>
                <a:spcPct val="0"/>
              </a:spcBef>
            </a:pPr>
            <a:r>
              <a:rPr lang="en-US" sz="2000">
                <a:solidFill>
                  <a:srgbClr val="000000"/>
                </a:solidFill>
                <a:latin typeface="Times New Roman"/>
                <a:ea typeface="Times New Roman"/>
                <a:cs typeface="Times New Roman"/>
                <a:sym typeface="Times New Roman"/>
              </a:rPr>
              <a:t>Large visual elements, simple navigation, touch interaction and voice assistance can make the platform suitable for elderly user</a:t>
            </a:r>
            <a:r>
              <a:rPr lang="en-US" sz="2000" b="1">
                <a:solidFill>
                  <a:srgbClr val="000000"/>
                </a:solidFill>
                <a:latin typeface="Times New Roman Bold"/>
                <a:ea typeface="Times New Roman Bold"/>
                <a:cs typeface="Times New Roman Bold"/>
                <a:sym typeface="Times New Roman Bold"/>
              </a:rPr>
              <a:t>s</a:t>
            </a:r>
          </a:p>
        </p:txBody>
      </p:sp>
      <p:sp>
        <p:nvSpPr>
          <p:cNvPr id="31" name="TextBox 31"/>
          <p:cNvSpPr txBox="1"/>
          <p:nvPr/>
        </p:nvSpPr>
        <p:spPr>
          <a:xfrm>
            <a:off x="9432291" y="4882144"/>
            <a:ext cx="4090036" cy="628650"/>
          </a:xfrm>
          <a:prstGeom prst="rect">
            <a:avLst/>
          </a:prstGeom>
        </p:spPr>
        <p:txBody>
          <a:bodyPr lIns="0" tIns="0" rIns="0" bIns="0" rtlCol="0" anchor="t">
            <a:spAutoFit/>
          </a:bodyPr>
          <a:lstStyle/>
          <a:p>
            <a:pPr algn="just">
              <a:lnSpc>
                <a:spcPts val="2400"/>
              </a:lnSpc>
              <a:spcBef>
                <a:spcPct val="0"/>
              </a:spcBef>
            </a:pPr>
            <a:r>
              <a:rPr lang="en-US" sz="2000">
                <a:solidFill>
                  <a:srgbClr val="000000"/>
                </a:solidFill>
                <a:latin typeface="Times New Roman"/>
                <a:ea typeface="Times New Roman"/>
                <a:cs typeface="Times New Roman"/>
                <a:sym typeface="Times New Roman"/>
              </a:rPr>
              <a:t>Elderly users may have difficulty adapting to digital interfaces</a:t>
            </a:r>
          </a:p>
        </p:txBody>
      </p:sp>
      <p:sp>
        <p:nvSpPr>
          <p:cNvPr id="32" name="TextBox 32"/>
          <p:cNvSpPr txBox="1"/>
          <p:nvPr/>
        </p:nvSpPr>
        <p:spPr>
          <a:xfrm>
            <a:off x="13579319" y="4724400"/>
            <a:ext cx="4549459" cy="933450"/>
          </a:xfrm>
          <a:prstGeom prst="rect">
            <a:avLst/>
          </a:prstGeom>
        </p:spPr>
        <p:txBody>
          <a:bodyPr lIns="0" tIns="0" rIns="0" bIns="0" rtlCol="0" anchor="t">
            <a:spAutoFit/>
          </a:bodyPr>
          <a:lstStyle/>
          <a:p>
            <a:pPr algn="just">
              <a:lnSpc>
                <a:spcPts val="2400"/>
              </a:lnSpc>
              <a:spcBef>
                <a:spcPct val="0"/>
              </a:spcBef>
            </a:pPr>
            <a:r>
              <a:rPr lang="en-US" sz="2000">
                <a:solidFill>
                  <a:srgbClr val="000000"/>
                </a:solidFill>
                <a:latin typeface="Times New Roman"/>
                <a:ea typeface="Times New Roman"/>
                <a:cs typeface="Times New Roman"/>
                <a:sym typeface="Times New Roman"/>
              </a:rPr>
              <a:t>Use minimal steps, large buttons, clear instructions, voice guidance and familiar visual content</a:t>
            </a:r>
          </a:p>
        </p:txBody>
      </p:sp>
      <p:sp>
        <p:nvSpPr>
          <p:cNvPr id="33" name="TextBox 33"/>
          <p:cNvSpPr txBox="1"/>
          <p:nvPr/>
        </p:nvSpPr>
        <p:spPr>
          <a:xfrm>
            <a:off x="3650793" y="5632462"/>
            <a:ext cx="5384308" cy="628650"/>
          </a:xfrm>
          <a:prstGeom prst="rect">
            <a:avLst/>
          </a:prstGeom>
        </p:spPr>
        <p:txBody>
          <a:bodyPr lIns="0" tIns="0" rIns="0" bIns="0" rtlCol="0" anchor="t">
            <a:spAutoFit/>
          </a:bodyPr>
          <a:lstStyle/>
          <a:p>
            <a:pPr algn="just">
              <a:lnSpc>
                <a:spcPts val="2400"/>
              </a:lnSpc>
              <a:spcBef>
                <a:spcPct val="0"/>
              </a:spcBef>
            </a:pPr>
            <a:r>
              <a:rPr lang="en-US" sz="2000">
                <a:solidFill>
                  <a:srgbClr val="000000"/>
                </a:solidFill>
                <a:latin typeface="Times New Roman"/>
                <a:ea typeface="Times New Roman"/>
                <a:cs typeface="Times New Roman"/>
                <a:sym typeface="Times New Roman"/>
              </a:rPr>
              <a:t>The platform can support multiple languages and culturally familiar NER-based content</a:t>
            </a:r>
          </a:p>
        </p:txBody>
      </p:sp>
      <p:sp>
        <p:nvSpPr>
          <p:cNvPr id="34" name="TextBox 34"/>
          <p:cNvSpPr txBox="1"/>
          <p:nvPr/>
        </p:nvSpPr>
        <p:spPr>
          <a:xfrm>
            <a:off x="9260257" y="5661037"/>
            <a:ext cx="4033654" cy="571500"/>
          </a:xfrm>
          <a:prstGeom prst="rect">
            <a:avLst/>
          </a:prstGeom>
        </p:spPr>
        <p:txBody>
          <a:bodyPr lIns="0" tIns="0" rIns="0" bIns="0" rtlCol="0" anchor="t">
            <a:spAutoFit/>
          </a:bodyPr>
          <a:lstStyle/>
          <a:p>
            <a:pPr algn="just">
              <a:lnSpc>
                <a:spcPts val="2195"/>
              </a:lnSpc>
              <a:spcBef>
                <a:spcPct val="0"/>
              </a:spcBef>
            </a:pPr>
            <a:r>
              <a:rPr lang="en-US" sz="1829">
                <a:solidFill>
                  <a:srgbClr val="000000"/>
                </a:solidFill>
                <a:latin typeface="Times New Roman"/>
                <a:ea typeface="Times New Roman"/>
                <a:cs typeface="Times New Roman"/>
                <a:sym typeface="Times New Roman"/>
              </a:rPr>
              <a:t>Regional language and cultural content may require additional data and validation</a:t>
            </a:r>
          </a:p>
        </p:txBody>
      </p:sp>
      <p:sp>
        <p:nvSpPr>
          <p:cNvPr id="35" name="TextBox 35"/>
          <p:cNvSpPr txBox="1"/>
          <p:nvPr/>
        </p:nvSpPr>
        <p:spPr>
          <a:xfrm>
            <a:off x="13579319" y="5718187"/>
            <a:ext cx="4664205" cy="571500"/>
          </a:xfrm>
          <a:prstGeom prst="rect">
            <a:avLst/>
          </a:prstGeom>
        </p:spPr>
        <p:txBody>
          <a:bodyPr lIns="0" tIns="0" rIns="0" bIns="0" rtlCol="0" anchor="t">
            <a:spAutoFit/>
          </a:bodyPr>
          <a:lstStyle/>
          <a:p>
            <a:pPr algn="just">
              <a:lnSpc>
                <a:spcPts val="2220"/>
              </a:lnSpc>
              <a:spcBef>
                <a:spcPct val="0"/>
              </a:spcBef>
            </a:pPr>
            <a:r>
              <a:rPr lang="en-US" sz="1850">
                <a:solidFill>
                  <a:srgbClr val="000000"/>
                </a:solidFill>
                <a:latin typeface="Times New Roman"/>
                <a:ea typeface="Times New Roman"/>
                <a:cs typeface="Times New Roman"/>
                <a:sym typeface="Times New Roman"/>
              </a:rPr>
              <a:t>Start with selected languages and expand through validated regional content and user feedback</a:t>
            </a:r>
          </a:p>
        </p:txBody>
      </p:sp>
      <p:sp>
        <p:nvSpPr>
          <p:cNvPr id="36" name="AutoShape 36"/>
          <p:cNvSpPr/>
          <p:nvPr/>
        </p:nvSpPr>
        <p:spPr>
          <a:xfrm flipV="1">
            <a:off x="0" y="6346837"/>
            <a:ext cx="18288000" cy="31744"/>
          </a:xfrm>
          <a:prstGeom prst="line">
            <a:avLst/>
          </a:prstGeom>
          <a:ln w="38100" cap="flat">
            <a:solidFill>
              <a:srgbClr val="000000"/>
            </a:solidFill>
            <a:prstDash val="solid"/>
            <a:headEnd type="none" w="sm" len="sm"/>
            <a:tailEnd type="none" w="sm" len="sm"/>
          </a:ln>
        </p:spPr>
      </p:sp>
      <p:sp>
        <p:nvSpPr>
          <p:cNvPr id="37" name="TextBox 37"/>
          <p:cNvSpPr txBox="1"/>
          <p:nvPr/>
        </p:nvSpPr>
        <p:spPr>
          <a:xfrm>
            <a:off x="3647114" y="6403987"/>
            <a:ext cx="5555015" cy="628650"/>
          </a:xfrm>
          <a:prstGeom prst="rect">
            <a:avLst/>
          </a:prstGeom>
        </p:spPr>
        <p:txBody>
          <a:bodyPr lIns="0" tIns="0" rIns="0" bIns="0" rtlCol="0" anchor="t">
            <a:spAutoFit/>
          </a:bodyPr>
          <a:lstStyle/>
          <a:p>
            <a:pPr algn="just">
              <a:lnSpc>
                <a:spcPts val="2400"/>
              </a:lnSpc>
              <a:spcBef>
                <a:spcPct val="0"/>
              </a:spcBef>
            </a:pPr>
            <a:r>
              <a:rPr lang="en-US" sz="2000">
                <a:solidFill>
                  <a:srgbClr val="000000"/>
                </a:solidFill>
                <a:latin typeface="Times New Roman"/>
                <a:ea typeface="Times New Roman"/>
                <a:cs typeface="Times New Roman"/>
                <a:sym typeface="Times New Roman"/>
              </a:rPr>
              <a:t>The core platform can operate through lightweight web APIs and server-side processing</a:t>
            </a:r>
          </a:p>
        </p:txBody>
      </p:sp>
      <p:sp>
        <p:nvSpPr>
          <p:cNvPr id="38" name="TextBox 38"/>
          <p:cNvSpPr txBox="1"/>
          <p:nvPr/>
        </p:nvSpPr>
        <p:spPr>
          <a:xfrm>
            <a:off x="9139238" y="4714875"/>
            <a:ext cx="9525" cy="323850"/>
          </a:xfrm>
          <a:prstGeom prst="rect">
            <a:avLst/>
          </a:prstGeom>
        </p:spPr>
        <p:txBody>
          <a:bodyPr lIns="0" tIns="0" rIns="0" bIns="0" rtlCol="0" anchor="t">
            <a:spAutoFit/>
          </a:bodyPr>
          <a:lstStyle/>
          <a:p>
            <a:pPr algn="ctr">
              <a:lnSpc>
                <a:spcPts val="2400"/>
              </a:lnSpc>
              <a:spcBef>
                <a:spcPct val="0"/>
              </a:spcBef>
            </a:pPr>
            <a:endParaRPr/>
          </a:p>
        </p:txBody>
      </p:sp>
      <p:sp>
        <p:nvSpPr>
          <p:cNvPr id="39" name="AutoShape 39"/>
          <p:cNvSpPr/>
          <p:nvPr/>
        </p:nvSpPr>
        <p:spPr>
          <a:xfrm>
            <a:off x="0" y="5680087"/>
            <a:ext cx="18751326" cy="0"/>
          </a:xfrm>
          <a:prstGeom prst="line">
            <a:avLst/>
          </a:prstGeom>
          <a:ln w="38100" cap="flat">
            <a:solidFill>
              <a:srgbClr val="000000"/>
            </a:solidFill>
            <a:prstDash val="solid"/>
            <a:headEnd type="none" w="sm" len="sm"/>
            <a:tailEnd type="none" w="sm" len="sm"/>
          </a:ln>
        </p:spPr>
      </p:sp>
      <p:sp>
        <p:nvSpPr>
          <p:cNvPr id="40" name="TextBox 40"/>
          <p:cNvSpPr txBox="1"/>
          <p:nvPr/>
        </p:nvSpPr>
        <p:spPr>
          <a:xfrm>
            <a:off x="9260257" y="6356362"/>
            <a:ext cx="4262071" cy="628650"/>
          </a:xfrm>
          <a:prstGeom prst="rect">
            <a:avLst/>
          </a:prstGeom>
        </p:spPr>
        <p:txBody>
          <a:bodyPr lIns="0" tIns="0" rIns="0" bIns="0" rtlCol="0" anchor="t">
            <a:spAutoFit/>
          </a:bodyPr>
          <a:lstStyle/>
          <a:p>
            <a:pPr algn="just">
              <a:lnSpc>
                <a:spcPts val="2400"/>
              </a:lnSpc>
              <a:spcBef>
                <a:spcPct val="0"/>
              </a:spcBef>
            </a:pPr>
            <a:r>
              <a:rPr lang="en-US" sz="2000">
                <a:solidFill>
                  <a:srgbClr val="000000"/>
                </a:solidFill>
                <a:latin typeface="Times New Roman"/>
                <a:ea typeface="Times New Roman"/>
                <a:cs typeface="Times New Roman"/>
                <a:sym typeface="Times New Roman"/>
              </a:rPr>
              <a:t>Remote and rural areas may have unreliable internet connectivity</a:t>
            </a:r>
          </a:p>
        </p:txBody>
      </p:sp>
      <p:sp>
        <p:nvSpPr>
          <p:cNvPr id="41" name="TextBox 41"/>
          <p:cNvSpPr txBox="1"/>
          <p:nvPr/>
        </p:nvSpPr>
        <p:spPr>
          <a:xfrm>
            <a:off x="13717814" y="6299212"/>
            <a:ext cx="4664205" cy="857250"/>
          </a:xfrm>
          <a:prstGeom prst="rect">
            <a:avLst/>
          </a:prstGeom>
        </p:spPr>
        <p:txBody>
          <a:bodyPr lIns="0" tIns="0" rIns="0" bIns="0" rtlCol="0" anchor="t">
            <a:spAutoFit/>
          </a:bodyPr>
          <a:lstStyle/>
          <a:p>
            <a:pPr algn="just">
              <a:lnSpc>
                <a:spcPts val="2207"/>
              </a:lnSpc>
            </a:pPr>
            <a:r>
              <a:rPr lang="en-US" sz="1839">
                <a:solidFill>
                  <a:srgbClr val="000000"/>
                </a:solidFill>
                <a:latin typeface="Times New Roman"/>
                <a:ea typeface="Times New Roman"/>
                <a:cs typeface="Times New Roman"/>
                <a:sym typeface="Times New Roman"/>
              </a:rPr>
              <a:t>Minimize data transfer, cache essential content where possible and synchronize performance data when connectivity is restored</a:t>
            </a:r>
          </a:p>
        </p:txBody>
      </p:sp>
      <p:sp>
        <p:nvSpPr>
          <p:cNvPr id="42" name="AutoShape 42"/>
          <p:cNvSpPr/>
          <p:nvPr/>
        </p:nvSpPr>
        <p:spPr>
          <a:xfrm>
            <a:off x="138495" y="7156462"/>
            <a:ext cx="18243524" cy="0"/>
          </a:xfrm>
          <a:prstGeom prst="line">
            <a:avLst/>
          </a:prstGeom>
          <a:ln w="38100" cap="flat">
            <a:solidFill>
              <a:srgbClr val="000000"/>
            </a:solidFill>
            <a:prstDash val="solid"/>
            <a:headEnd type="none" w="sm" len="sm"/>
            <a:tailEnd type="none" w="sm" len="sm"/>
          </a:ln>
        </p:spPr>
      </p:sp>
      <p:sp>
        <p:nvSpPr>
          <p:cNvPr id="43" name="TextBox 43"/>
          <p:cNvSpPr txBox="1"/>
          <p:nvPr/>
        </p:nvSpPr>
        <p:spPr>
          <a:xfrm>
            <a:off x="3593747" y="7185037"/>
            <a:ext cx="5555015" cy="586228"/>
          </a:xfrm>
          <a:prstGeom prst="rect">
            <a:avLst/>
          </a:prstGeom>
        </p:spPr>
        <p:txBody>
          <a:bodyPr lIns="0" tIns="0" rIns="0" bIns="0" rtlCol="0" anchor="t">
            <a:spAutoFit/>
          </a:bodyPr>
          <a:lstStyle/>
          <a:p>
            <a:pPr algn="just">
              <a:lnSpc>
                <a:spcPts val="2232"/>
              </a:lnSpc>
              <a:spcBef>
                <a:spcPct val="0"/>
              </a:spcBef>
            </a:pPr>
            <a:r>
              <a:rPr lang="en-US" sz="1860">
                <a:solidFill>
                  <a:srgbClr val="000000"/>
                </a:solidFill>
                <a:latin typeface="Times New Roman"/>
                <a:ea typeface="Times New Roman"/>
                <a:cs typeface="Times New Roman"/>
                <a:sym typeface="Times New Roman"/>
              </a:rPr>
              <a:t>Patient profiles and performance records can be managed through authenticated access and controlled backend APIs</a:t>
            </a:r>
          </a:p>
        </p:txBody>
      </p:sp>
      <p:sp>
        <p:nvSpPr>
          <p:cNvPr id="44" name="TextBox 44"/>
          <p:cNvSpPr txBox="1"/>
          <p:nvPr/>
        </p:nvSpPr>
        <p:spPr>
          <a:xfrm>
            <a:off x="9231762" y="7194562"/>
            <a:ext cx="4319062" cy="628650"/>
          </a:xfrm>
          <a:prstGeom prst="rect">
            <a:avLst/>
          </a:prstGeom>
        </p:spPr>
        <p:txBody>
          <a:bodyPr lIns="0" tIns="0" rIns="0" bIns="0" rtlCol="0" anchor="t">
            <a:spAutoFit/>
          </a:bodyPr>
          <a:lstStyle/>
          <a:p>
            <a:pPr algn="just">
              <a:lnSpc>
                <a:spcPts val="2400"/>
              </a:lnSpc>
              <a:spcBef>
                <a:spcPct val="0"/>
              </a:spcBef>
            </a:pPr>
            <a:r>
              <a:rPr lang="en-US" sz="2000">
                <a:solidFill>
                  <a:srgbClr val="000000"/>
                </a:solidFill>
                <a:latin typeface="Times New Roman"/>
                <a:ea typeface="Times New Roman"/>
                <a:cs typeface="Times New Roman"/>
                <a:sym typeface="Times New Roman"/>
              </a:rPr>
              <a:t>Cognitive and personal information is sensitive</a:t>
            </a:r>
          </a:p>
        </p:txBody>
      </p:sp>
      <p:sp>
        <p:nvSpPr>
          <p:cNvPr id="45" name="TextBox 45"/>
          <p:cNvSpPr txBox="1"/>
          <p:nvPr/>
        </p:nvSpPr>
        <p:spPr>
          <a:xfrm>
            <a:off x="13717814" y="7099312"/>
            <a:ext cx="4721196" cy="819150"/>
          </a:xfrm>
          <a:prstGeom prst="rect">
            <a:avLst/>
          </a:prstGeom>
        </p:spPr>
        <p:txBody>
          <a:bodyPr lIns="0" tIns="0" rIns="0" bIns="0" rtlCol="0" anchor="t">
            <a:spAutoFit/>
          </a:bodyPr>
          <a:lstStyle/>
          <a:p>
            <a:pPr algn="just">
              <a:lnSpc>
                <a:spcPts val="2160"/>
              </a:lnSpc>
              <a:spcBef>
                <a:spcPct val="0"/>
              </a:spcBef>
            </a:pPr>
            <a:r>
              <a:rPr lang="en-US" sz="1800">
                <a:solidFill>
                  <a:srgbClr val="000000"/>
                </a:solidFill>
                <a:latin typeface="Times New Roman"/>
                <a:ea typeface="Times New Roman"/>
                <a:cs typeface="Times New Roman"/>
                <a:sym typeface="Times New Roman"/>
              </a:rPr>
              <a:t>Apply role-based access, secure authentication, encrypted communication and minimum necessary data collection</a:t>
            </a:r>
          </a:p>
        </p:txBody>
      </p:sp>
      <p:sp>
        <p:nvSpPr>
          <p:cNvPr id="46" name="AutoShape 46"/>
          <p:cNvSpPr/>
          <p:nvPr/>
        </p:nvSpPr>
        <p:spPr>
          <a:xfrm flipV="1">
            <a:off x="0" y="7918462"/>
            <a:ext cx="18439011" cy="95250"/>
          </a:xfrm>
          <a:prstGeom prst="line">
            <a:avLst/>
          </a:prstGeom>
          <a:ln w="38100" cap="flat">
            <a:solidFill>
              <a:srgbClr val="000000"/>
            </a:solidFill>
            <a:prstDash val="solid"/>
            <a:headEnd type="none" w="sm" len="sm"/>
            <a:tailEnd type="none" w="sm" len="sm"/>
          </a:ln>
        </p:spPr>
      </p:sp>
      <p:sp>
        <p:nvSpPr>
          <p:cNvPr id="47" name="TextBox 47"/>
          <p:cNvSpPr txBox="1"/>
          <p:nvPr/>
        </p:nvSpPr>
        <p:spPr>
          <a:xfrm>
            <a:off x="3571092" y="7994662"/>
            <a:ext cx="5464009" cy="819150"/>
          </a:xfrm>
          <a:prstGeom prst="rect">
            <a:avLst/>
          </a:prstGeom>
        </p:spPr>
        <p:txBody>
          <a:bodyPr lIns="0" tIns="0" rIns="0" bIns="0" rtlCol="0" anchor="t">
            <a:spAutoFit/>
          </a:bodyPr>
          <a:lstStyle/>
          <a:p>
            <a:pPr algn="just">
              <a:lnSpc>
                <a:spcPts val="2160"/>
              </a:lnSpc>
              <a:spcBef>
                <a:spcPct val="0"/>
              </a:spcBef>
            </a:pPr>
            <a:r>
              <a:rPr lang="en-US" sz="1800">
                <a:solidFill>
                  <a:srgbClr val="000000"/>
                </a:solidFill>
                <a:latin typeface="Times New Roman"/>
                <a:ea typeface="Times New Roman"/>
                <a:cs typeface="Times New Roman"/>
                <a:sym typeface="Times New Roman"/>
              </a:rPr>
              <a:t>A modular web architecture allows the platform to be deployed initially as a prototype and expanded to multiple patients, caregivers and locations</a:t>
            </a:r>
          </a:p>
        </p:txBody>
      </p:sp>
      <p:sp>
        <p:nvSpPr>
          <p:cNvPr id="48" name="TextBox 48"/>
          <p:cNvSpPr txBox="1"/>
          <p:nvPr/>
        </p:nvSpPr>
        <p:spPr>
          <a:xfrm>
            <a:off x="9205808" y="8013712"/>
            <a:ext cx="4440366" cy="590550"/>
          </a:xfrm>
          <a:prstGeom prst="rect">
            <a:avLst/>
          </a:prstGeom>
        </p:spPr>
        <p:txBody>
          <a:bodyPr lIns="0" tIns="0" rIns="0" bIns="0" rtlCol="0" anchor="t">
            <a:spAutoFit/>
          </a:bodyPr>
          <a:lstStyle/>
          <a:p>
            <a:pPr algn="just">
              <a:lnSpc>
                <a:spcPts val="2279"/>
              </a:lnSpc>
              <a:spcBef>
                <a:spcPct val="0"/>
              </a:spcBef>
            </a:pPr>
            <a:r>
              <a:rPr lang="en-US" sz="1899">
                <a:solidFill>
                  <a:srgbClr val="000000"/>
                </a:solidFill>
                <a:latin typeface="Times New Roman"/>
                <a:ea typeface="Times New Roman"/>
                <a:cs typeface="Times New Roman"/>
                <a:sym typeface="Times New Roman"/>
              </a:rPr>
              <a:t>Scaling to real-world healthcare environments requires extensive validation</a:t>
            </a:r>
          </a:p>
        </p:txBody>
      </p:sp>
      <p:sp>
        <p:nvSpPr>
          <p:cNvPr id="49" name="TextBox 49"/>
          <p:cNvSpPr txBox="1"/>
          <p:nvPr/>
        </p:nvSpPr>
        <p:spPr>
          <a:xfrm>
            <a:off x="13461224" y="7994662"/>
            <a:ext cx="4782300" cy="819150"/>
          </a:xfrm>
          <a:prstGeom prst="rect">
            <a:avLst/>
          </a:prstGeom>
        </p:spPr>
        <p:txBody>
          <a:bodyPr lIns="0" tIns="0" rIns="0" bIns="0" rtlCol="0" anchor="t">
            <a:spAutoFit/>
          </a:bodyPr>
          <a:lstStyle/>
          <a:p>
            <a:pPr algn="ctr">
              <a:lnSpc>
                <a:spcPts val="2160"/>
              </a:lnSpc>
              <a:spcBef>
                <a:spcPct val="0"/>
              </a:spcBef>
            </a:pPr>
            <a:r>
              <a:rPr lang="en-US" sz="1800">
                <a:solidFill>
                  <a:srgbClr val="000000"/>
                </a:solidFill>
                <a:latin typeface="Times New Roman"/>
                <a:ea typeface="Times New Roman"/>
                <a:cs typeface="Times New Roman"/>
                <a:sym typeface="Times New Roman"/>
              </a:rPr>
              <a:t>Pilot the system with simulated/controlled data, validate the cognitive activities and progressively expand after appropriate evaluation</a:t>
            </a:r>
          </a:p>
        </p:txBody>
      </p:sp>
      <p:sp>
        <p:nvSpPr>
          <p:cNvPr id="50" name="AutoShape 50"/>
          <p:cNvSpPr/>
          <p:nvPr/>
        </p:nvSpPr>
        <p:spPr>
          <a:xfrm>
            <a:off x="0" y="8832862"/>
            <a:ext cx="18288000" cy="0"/>
          </a:xfrm>
          <a:prstGeom prst="line">
            <a:avLst/>
          </a:prstGeom>
          <a:ln w="38100" cap="flat">
            <a:solidFill>
              <a:srgbClr val="000000"/>
            </a:solidFill>
            <a:prstDash val="solid"/>
            <a:headEnd type="none" w="sm" len="sm"/>
            <a:tailEnd type="none" w="sm" len="sm"/>
          </a:ln>
        </p:spPr>
      </p:sp>
      <p:sp>
        <p:nvSpPr>
          <p:cNvPr id="51" name="AutoShape 51"/>
          <p:cNvSpPr/>
          <p:nvPr/>
        </p:nvSpPr>
        <p:spPr>
          <a:xfrm>
            <a:off x="9202129" y="1792605"/>
            <a:ext cx="0" cy="7040257"/>
          </a:xfrm>
          <a:prstGeom prst="line">
            <a:avLst/>
          </a:prstGeom>
          <a:ln w="38100" cap="flat">
            <a:solidFill>
              <a:srgbClr val="000000"/>
            </a:solidFill>
            <a:prstDash val="solid"/>
            <a:headEnd type="none" w="sm" len="sm"/>
            <a:tailEnd type="none" w="sm" len="sm"/>
          </a:ln>
        </p:spPr>
      </p:sp>
      <p:sp>
        <p:nvSpPr>
          <p:cNvPr id="52" name="AutoShape 52"/>
          <p:cNvSpPr/>
          <p:nvPr/>
        </p:nvSpPr>
        <p:spPr>
          <a:xfrm>
            <a:off x="3409167" y="1845322"/>
            <a:ext cx="0" cy="6987540"/>
          </a:xfrm>
          <a:prstGeom prst="line">
            <a:avLst/>
          </a:prstGeom>
          <a:ln w="38100" cap="flat">
            <a:solidFill>
              <a:srgbClr val="000000"/>
            </a:solidFill>
            <a:prstDash val="solid"/>
            <a:headEnd type="none" w="sm" len="sm"/>
            <a:tailEnd type="none" w="sm" len="sm"/>
          </a:ln>
        </p:spPr>
      </p:sp>
      <p:sp>
        <p:nvSpPr>
          <p:cNvPr id="53" name="AutoShape 53"/>
          <p:cNvSpPr/>
          <p:nvPr/>
        </p:nvSpPr>
        <p:spPr>
          <a:xfrm>
            <a:off x="13550823" y="1792605"/>
            <a:ext cx="0" cy="7040257"/>
          </a:xfrm>
          <a:prstGeom prst="line">
            <a:avLst/>
          </a:prstGeom>
          <a:ln w="38100" cap="flat">
            <a:solidFill>
              <a:srgbClr val="000000"/>
            </a:solidFill>
            <a:prstDash val="solid"/>
            <a:headEnd type="none" w="sm" len="sm"/>
            <a:tailEnd type="none" w="sm" len="sm"/>
          </a:ln>
        </p:spPr>
      </p:sp>
      <p:sp>
        <p:nvSpPr>
          <p:cNvPr id="54" name="TextBox 54"/>
          <p:cNvSpPr txBox="1"/>
          <p:nvPr/>
        </p:nvSpPr>
        <p:spPr>
          <a:xfrm>
            <a:off x="138495" y="8840025"/>
            <a:ext cx="17990283" cy="723900"/>
          </a:xfrm>
          <a:prstGeom prst="rect">
            <a:avLst/>
          </a:prstGeom>
        </p:spPr>
        <p:txBody>
          <a:bodyPr lIns="0" tIns="0" rIns="0" bIns="0" rtlCol="0" anchor="t">
            <a:spAutoFit/>
          </a:bodyPr>
          <a:lstStyle/>
          <a:p>
            <a:pPr marL="504838" lvl="1" indent="-252419" algn="l">
              <a:lnSpc>
                <a:spcPts val="2805"/>
              </a:lnSpc>
              <a:buFont typeface="Arial"/>
              <a:buChar char="•"/>
            </a:pPr>
            <a:r>
              <a:rPr lang="en-US" sz="2338" b="1">
                <a:solidFill>
                  <a:srgbClr val="000000"/>
                </a:solidFill>
                <a:latin typeface="Times New Roman Bold"/>
                <a:ea typeface="Times New Roman Bold"/>
                <a:cs typeface="Times New Roman Bold"/>
                <a:sym typeface="Times New Roman Bold"/>
              </a:rPr>
              <a:t>The proposed platform is technically feasible as a web-based prototype using existing AI, ML, voice and cloud technologies, while its real-world effectiveness can be progressively validated and improved through user feedback and performance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1028700" y="-121129"/>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r>
                <a:rPr lang="en-US" sz="5400" b="1">
                  <a:solidFill>
                    <a:srgbClr val="000000"/>
                  </a:solidFill>
                  <a:latin typeface="Times New Roman Bold"/>
                  <a:ea typeface="Times New Roman Bold"/>
                  <a:cs typeface="Times New Roman Bold"/>
                  <a:sym typeface="Times New Roman Bold"/>
                </a:rPr>
                <a:t>IMPACT AND BENEFITS</a:t>
              </a:r>
            </a:p>
          </p:txBody>
        </p:sp>
      </p:grpSp>
      <p:sp>
        <p:nvSpPr>
          <p:cNvPr id="7" name="TextBox 7"/>
          <p:cNvSpPr txBox="1"/>
          <p:nvPr/>
        </p:nvSpPr>
        <p:spPr>
          <a:xfrm>
            <a:off x="95089" y="1525999"/>
            <a:ext cx="5870522" cy="8237777"/>
          </a:xfrm>
          <a:prstGeom prst="rect">
            <a:avLst/>
          </a:prstGeom>
        </p:spPr>
        <p:txBody>
          <a:bodyPr lIns="0" tIns="0" rIns="0" bIns="0" rtlCol="0" anchor="t">
            <a:spAutoFit/>
          </a:bodyPr>
          <a:lstStyle/>
          <a:p>
            <a:pPr algn="ctr">
              <a:lnSpc>
                <a:spcPts val="2360"/>
              </a:lnSpc>
            </a:pPr>
            <a:endParaRPr/>
          </a:p>
          <a:p>
            <a:pPr algn="ctr">
              <a:lnSpc>
                <a:spcPts val="2360"/>
              </a:lnSpc>
            </a:pPr>
            <a:r>
              <a:rPr lang="en-US" sz="1967" b="1">
                <a:solidFill>
                  <a:srgbClr val="000000"/>
                </a:solidFill>
                <a:latin typeface="Arial Bold"/>
                <a:ea typeface="Arial Bold"/>
                <a:cs typeface="Arial Bold"/>
                <a:sym typeface="Arial Bold"/>
              </a:rPr>
              <a:t>SOCIAL IMPACT</a:t>
            </a:r>
          </a:p>
          <a:p>
            <a:pPr algn="just">
              <a:lnSpc>
                <a:spcPts val="2360"/>
              </a:lnSpc>
            </a:pPr>
            <a:endParaRPr lang="en-US" sz="1967" b="1">
              <a:solidFill>
                <a:srgbClr val="000000"/>
              </a:solidFill>
              <a:latin typeface="Arial Bold"/>
              <a:ea typeface="Arial Bold"/>
              <a:cs typeface="Arial Bold"/>
              <a:sym typeface="Arial Bold"/>
            </a:endParaRPr>
          </a:p>
          <a:p>
            <a:pPr algn="just">
              <a:lnSpc>
                <a:spcPts val="2469"/>
              </a:lnSpc>
            </a:pPr>
            <a:r>
              <a:rPr lang="en-US" sz="2057">
                <a:solidFill>
                  <a:srgbClr val="000000"/>
                </a:solidFill>
                <a:latin typeface="Arial"/>
                <a:ea typeface="Arial"/>
                <a:cs typeface="Arial"/>
                <a:sym typeface="Arial"/>
              </a:rPr>
              <a:t>➢ </a:t>
            </a:r>
            <a:r>
              <a:rPr lang="en-US" sz="2057" b="1">
                <a:solidFill>
                  <a:srgbClr val="000000"/>
                </a:solidFill>
                <a:latin typeface="Arial Bold"/>
                <a:ea typeface="Arial Bold"/>
                <a:cs typeface="Arial Bold"/>
                <a:sym typeface="Arial Bold"/>
              </a:rPr>
              <a:t>Improved cognitive engagement:</a:t>
            </a:r>
            <a:r>
              <a:rPr lang="en-US" sz="2057">
                <a:solidFill>
                  <a:srgbClr val="000000"/>
                </a:solidFill>
                <a:latin typeface="Arial"/>
                <a:ea typeface="Arial"/>
                <a:cs typeface="Arial"/>
                <a:sym typeface="Arial"/>
              </a:rPr>
              <a:t> </a:t>
            </a:r>
          </a:p>
          <a:p>
            <a:pPr algn="just">
              <a:lnSpc>
                <a:spcPts val="2469"/>
              </a:lnSpc>
            </a:pPr>
            <a:r>
              <a:rPr lang="en-US" sz="2057">
                <a:solidFill>
                  <a:srgbClr val="000000"/>
                </a:solidFill>
                <a:latin typeface="Arial"/>
                <a:ea typeface="Arial"/>
                <a:cs typeface="Arial"/>
                <a:sym typeface="Arial"/>
              </a:rPr>
              <a:t>Regular interactive activities can encourage </a:t>
            </a:r>
          </a:p>
          <a:p>
            <a:pPr algn="just">
              <a:lnSpc>
                <a:spcPts val="2469"/>
              </a:lnSpc>
            </a:pPr>
            <a:r>
              <a:rPr lang="en-US" sz="2057">
                <a:solidFill>
                  <a:srgbClr val="000000"/>
                </a:solidFill>
                <a:latin typeface="Arial"/>
                <a:ea typeface="Arial"/>
                <a:cs typeface="Arial"/>
                <a:sym typeface="Arial"/>
              </a:rPr>
              <a:t>elderly dementia patients to practice </a:t>
            </a:r>
          </a:p>
          <a:p>
            <a:pPr algn="just">
              <a:lnSpc>
                <a:spcPts val="2469"/>
              </a:lnSpc>
            </a:pPr>
            <a:r>
              <a:rPr lang="en-US" sz="2057">
                <a:solidFill>
                  <a:srgbClr val="000000"/>
                </a:solidFill>
                <a:latin typeface="Arial"/>
                <a:ea typeface="Arial"/>
                <a:cs typeface="Arial"/>
                <a:sym typeface="Arial"/>
              </a:rPr>
              <a:t>memory, attention, recognition and concentration.</a:t>
            </a:r>
          </a:p>
          <a:p>
            <a:pPr algn="just">
              <a:lnSpc>
                <a:spcPts val="2360"/>
              </a:lnSpc>
            </a:pPr>
            <a:endParaRPr lang="en-US" sz="2057">
              <a:solidFill>
                <a:srgbClr val="000000"/>
              </a:solidFill>
              <a:latin typeface="Arial"/>
              <a:ea typeface="Arial"/>
              <a:cs typeface="Arial"/>
              <a:sym typeface="Arial"/>
            </a:endParaRPr>
          </a:p>
          <a:p>
            <a:pPr algn="just">
              <a:lnSpc>
                <a:spcPts val="2469"/>
              </a:lnSpc>
            </a:pPr>
            <a:r>
              <a:rPr lang="en-US" sz="2057">
                <a:solidFill>
                  <a:srgbClr val="000000"/>
                </a:solidFill>
                <a:latin typeface="Arial"/>
                <a:ea typeface="Arial"/>
                <a:cs typeface="Arial"/>
                <a:sym typeface="Arial"/>
              </a:rPr>
              <a:t>➢ </a:t>
            </a:r>
            <a:r>
              <a:rPr lang="en-US" sz="2057" b="1">
                <a:solidFill>
                  <a:srgbClr val="000000"/>
                </a:solidFill>
                <a:latin typeface="Arial Bold"/>
                <a:ea typeface="Arial Bold"/>
                <a:cs typeface="Arial Bold"/>
                <a:sym typeface="Arial Bold"/>
              </a:rPr>
              <a:t>Greater independence:</a:t>
            </a:r>
            <a:r>
              <a:rPr lang="en-US" sz="2057">
                <a:solidFill>
                  <a:srgbClr val="000000"/>
                </a:solidFill>
                <a:latin typeface="Arial"/>
                <a:ea typeface="Arial"/>
                <a:cs typeface="Arial"/>
                <a:sym typeface="Arial"/>
              </a:rPr>
              <a:t> Timely reminders for medicines, hydration, daily activities and appointments can help patients manage </a:t>
            </a:r>
          </a:p>
          <a:p>
            <a:pPr algn="just">
              <a:lnSpc>
                <a:spcPts val="2469"/>
              </a:lnSpc>
            </a:pPr>
            <a:r>
              <a:rPr lang="en-US" sz="2057">
                <a:solidFill>
                  <a:srgbClr val="000000"/>
                </a:solidFill>
                <a:latin typeface="Arial"/>
                <a:ea typeface="Arial"/>
                <a:cs typeface="Arial"/>
                <a:sym typeface="Arial"/>
              </a:rPr>
              <a:t>everyday routines.</a:t>
            </a:r>
          </a:p>
          <a:p>
            <a:pPr algn="just">
              <a:lnSpc>
                <a:spcPts val="2360"/>
              </a:lnSpc>
            </a:pPr>
            <a:endParaRPr lang="en-US" sz="2057">
              <a:solidFill>
                <a:srgbClr val="000000"/>
              </a:solidFill>
              <a:latin typeface="Arial"/>
              <a:ea typeface="Arial"/>
              <a:cs typeface="Arial"/>
              <a:sym typeface="Arial"/>
            </a:endParaRPr>
          </a:p>
          <a:p>
            <a:pPr algn="just">
              <a:lnSpc>
                <a:spcPts val="2469"/>
              </a:lnSpc>
            </a:pPr>
            <a:r>
              <a:rPr lang="en-US" sz="2057">
                <a:solidFill>
                  <a:srgbClr val="000000"/>
                </a:solidFill>
                <a:latin typeface="Arial"/>
                <a:ea typeface="Arial"/>
                <a:cs typeface="Arial"/>
                <a:sym typeface="Arial"/>
              </a:rPr>
              <a:t>➢ </a:t>
            </a:r>
            <a:r>
              <a:rPr lang="en-US" sz="2057" b="1">
                <a:solidFill>
                  <a:srgbClr val="000000"/>
                </a:solidFill>
                <a:latin typeface="Arial Bold"/>
                <a:ea typeface="Arial Bold"/>
                <a:cs typeface="Arial Bold"/>
                <a:sym typeface="Arial Bold"/>
              </a:rPr>
              <a:t>Accessible cognitive support:</a:t>
            </a:r>
            <a:r>
              <a:rPr lang="en-US" sz="2057">
                <a:solidFill>
                  <a:srgbClr val="000000"/>
                </a:solidFill>
                <a:latin typeface="Arial"/>
                <a:ea typeface="Arial"/>
                <a:cs typeface="Arial"/>
                <a:sym typeface="Arial"/>
              </a:rPr>
              <a:t> Voice-assisted and multilingual interaction can make </a:t>
            </a:r>
          </a:p>
          <a:p>
            <a:pPr algn="just">
              <a:lnSpc>
                <a:spcPts val="2469"/>
              </a:lnSpc>
            </a:pPr>
            <a:r>
              <a:rPr lang="en-US" sz="2057">
                <a:solidFill>
                  <a:srgbClr val="000000"/>
                </a:solidFill>
                <a:latin typeface="Arial"/>
                <a:ea typeface="Arial"/>
                <a:cs typeface="Arial"/>
                <a:sym typeface="Arial"/>
              </a:rPr>
              <a:t>cognitive activities easier to use for elderly people, including those in remote and rural areas of NER.</a:t>
            </a:r>
          </a:p>
          <a:p>
            <a:pPr algn="just">
              <a:lnSpc>
                <a:spcPts val="2360"/>
              </a:lnSpc>
            </a:pPr>
            <a:endParaRPr lang="en-US" sz="2057">
              <a:solidFill>
                <a:srgbClr val="000000"/>
              </a:solidFill>
              <a:latin typeface="Arial"/>
              <a:ea typeface="Arial"/>
              <a:cs typeface="Arial"/>
              <a:sym typeface="Arial"/>
            </a:endParaRPr>
          </a:p>
          <a:p>
            <a:pPr algn="just">
              <a:lnSpc>
                <a:spcPts val="2469"/>
              </a:lnSpc>
            </a:pPr>
            <a:r>
              <a:rPr lang="en-US" sz="2057">
                <a:solidFill>
                  <a:srgbClr val="000000"/>
                </a:solidFill>
                <a:latin typeface="Arial"/>
                <a:ea typeface="Arial"/>
                <a:cs typeface="Arial"/>
                <a:sym typeface="Arial"/>
              </a:rPr>
              <a:t>➢</a:t>
            </a:r>
            <a:r>
              <a:rPr lang="en-US" sz="2057" b="1">
                <a:solidFill>
                  <a:srgbClr val="000000"/>
                </a:solidFill>
                <a:latin typeface="Arial Bold"/>
                <a:ea typeface="Arial Bold"/>
                <a:cs typeface="Arial Bold"/>
                <a:sym typeface="Arial Bold"/>
              </a:rPr>
              <a:t> Reduced social isolation: </a:t>
            </a:r>
            <a:r>
              <a:rPr lang="en-US" sz="2057">
                <a:solidFill>
                  <a:srgbClr val="000000"/>
                </a:solidFill>
                <a:latin typeface="Arial"/>
                <a:ea typeface="Arial"/>
                <a:cs typeface="Arial"/>
                <a:sym typeface="Arial"/>
              </a:rPr>
              <a:t>Familiar, engaging and culturally relevant activities can encourage interaction and continued mental engagement.</a:t>
            </a:r>
          </a:p>
          <a:p>
            <a:pPr algn="just">
              <a:lnSpc>
                <a:spcPts val="2360"/>
              </a:lnSpc>
            </a:pPr>
            <a:endParaRPr lang="en-US" sz="2057">
              <a:solidFill>
                <a:srgbClr val="000000"/>
              </a:solidFill>
              <a:latin typeface="Arial"/>
              <a:ea typeface="Arial"/>
              <a:cs typeface="Arial"/>
              <a:sym typeface="Arial"/>
            </a:endParaRPr>
          </a:p>
          <a:p>
            <a:pPr algn="just">
              <a:lnSpc>
                <a:spcPts val="2469"/>
              </a:lnSpc>
            </a:pPr>
            <a:r>
              <a:rPr lang="en-US" sz="2057">
                <a:solidFill>
                  <a:srgbClr val="000000"/>
                </a:solidFill>
                <a:latin typeface="Arial"/>
                <a:ea typeface="Arial"/>
                <a:cs typeface="Arial"/>
                <a:sym typeface="Arial"/>
              </a:rPr>
              <a:t>➢ </a:t>
            </a:r>
            <a:r>
              <a:rPr lang="en-US" sz="2057" b="1">
                <a:solidFill>
                  <a:srgbClr val="000000"/>
                </a:solidFill>
                <a:latin typeface="Arial Bold"/>
                <a:ea typeface="Arial Bold"/>
                <a:cs typeface="Arial Bold"/>
                <a:sym typeface="Arial Bold"/>
              </a:rPr>
              <a:t>Caregiver support:</a:t>
            </a:r>
            <a:r>
              <a:rPr lang="en-US" sz="2057">
                <a:solidFill>
                  <a:srgbClr val="000000"/>
                </a:solidFill>
                <a:latin typeface="Arial"/>
                <a:ea typeface="Arial"/>
                <a:cs typeface="Arial"/>
                <a:sym typeface="Arial"/>
              </a:rPr>
              <a:t> Performance history and activity insights help caregivers understand patient engagement and provide more personalized support.</a:t>
            </a:r>
          </a:p>
          <a:p>
            <a:pPr algn="just">
              <a:lnSpc>
                <a:spcPts val="2360"/>
              </a:lnSpc>
            </a:pPr>
            <a:endParaRPr lang="en-US" sz="2057">
              <a:solidFill>
                <a:srgbClr val="000000"/>
              </a:solidFill>
              <a:latin typeface="Arial"/>
              <a:ea typeface="Arial"/>
              <a:cs typeface="Arial"/>
              <a:sym typeface="Arial"/>
            </a:endParaRPr>
          </a:p>
        </p:txBody>
      </p:sp>
      <p:grpSp>
        <p:nvGrpSpPr>
          <p:cNvPr id="8" name="Group 8"/>
          <p:cNvGrpSpPr/>
          <p:nvPr/>
        </p:nvGrpSpPr>
        <p:grpSpPr>
          <a:xfrm>
            <a:off x="13106400" y="9534525"/>
            <a:ext cx="4267200" cy="547688"/>
            <a:chOff x="0" y="0"/>
            <a:chExt cx="5689600" cy="730250"/>
          </a:xfrm>
        </p:grpSpPr>
        <p:sp>
          <p:nvSpPr>
            <p:cNvPr id="9" name="Freeform 9"/>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sp>
        <p:sp>
          <p:nvSpPr>
            <p:cNvPr id="10" name="TextBox 10"/>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5</a:t>
              </a:r>
            </a:p>
          </p:txBody>
        </p:sp>
      </p:grpSp>
      <p:grpSp>
        <p:nvGrpSpPr>
          <p:cNvPr id="11" name="Group 11"/>
          <p:cNvGrpSpPr/>
          <p:nvPr/>
        </p:nvGrpSpPr>
        <p:grpSpPr>
          <a:xfrm>
            <a:off x="6972300" y="9534525"/>
            <a:ext cx="4806001" cy="547688"/>
            <a:chOff x="0" y="0"/>
            <a:chExt cx="6408001" cy="730250"/>
          </a:xfrm>
        </p:grpSpPr>
        <p:sp>
          <p:nvSpPr>
            <p:cNvPr id="12" name="Freeform 12"/>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2">
                <a:alphaModFix amt="0"/>
              </a:blip>
              <a:stretch>
                <a:fillRect t="-120982" b="-120982"/>
              </a:stretch>
            </a:blipFill>
          </p:spPr>
        </p:sp>
        <p:sp>
          <p:nvSpPr>
            <p:cNvPr id="13" name="TextBox 13"/>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id="14" name="Group 14"/>
          <p:cNvGrpSpPr/>
          <p:nvPr/>
        </p:nvGrpSpPr>
        <p:grpSpPr>
          <a:xfrm>
            <a:off x="475612" y="359321"/>
            <a:ext cx="1915887" cy="1249101"/>
            <a:chOff x="0" y="0"/>
            <a:chExt cx="2554516" cy="1665468"/>
          </a:xfrm>
        </p:grpSpPr>
        <p:sp>
          <p:nvSpPr>
            <p:cNvPr id="15" name="Freeform 15" descr="Your startup LOGO"/>
            <p:cNvSpPr/>
            <p:nvPr/>
          </p:nvSpPr>
          <p:spPr>
            <a:xfrm>
              <a:off x="0" y="0"/>
              <a:ext cx="2554478" cy="1665481"/>
            </a:xfrm>
            <a:custGeom>
              <a:avLst/>
              <a:gdLst/>
              <a:ahLst/>
              <a:cxnLst/>
              <a:rect l="l" t="t" r="r" b="b"/>
              <a:pathLst>
                <a:path w="2554478" h="1665481">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id="16" name="TextBox 16"/>
            <p:cNvSpPr txBox="1"/>
            <p:nvPr/>
          </p:nvSpPr>
          <p:spPr>
            <a:xfrm>
              <a:off x="0" y="-57150"/>
              <a:ext cx="2554516" cy="1722618"/>
            </a:xfrm>
            <a:prstGeom prst="rect">
              <a:avLst/>
            </a:prstGeom>
          </p:spPr>
          <p:txBody>
            <a:bodyPr lIns="50800" tIns="50800" rIns="50800" bIns="50800" rtlCol="0" anchor="ctr"/>
            <a:lstStyle/>
            <a:p>
              <a:pPr algn="ctr">
                <a:lnSpc>
                  <a:spcPts val="3240"/>
                </a:lnSpc>
              </a:pPr>
              <a:r>
                <a:rPr lang="en-US" sz="2700">
                  <a:solidFill>
                    <a:srgbClr val="000000"/>
                  </a:solidFill>
                  <a:latin typeface="Calibri (MS)"/>
                  <a:ea typeface="Calibri (MS)"/>
                  <a:cs typeface="Calibri (MS)"/>
                  <a:sym typeface="Calibri (MS)"/>
                </a:rPr>
                <a:t>Byte Force</a:t>
              </a:r>
            </a:p>
          </p:txBody>
        </p:sp>
      </p:grpSp>
      <p:grpSp>
        <p:nvGrpSpPr>
          <p:cNvPr id="17" name="Group 17"/>
          <p:cNvGrpSpPr/>
          <p:nvPr/>
        </p:nvGrpSpPr>
        <p:grpSpPr>
          <a:xfrm>
            <a:off x="14670129" y="2248"/>
            <a:ext cx="3005759" cy="1419262"/>
            <a:chOff x="0" y="0"/>
            <a:chExt cx="4499699" cy="2124672"/>
          </a:xfrm>
        </p:grpSpPr>
        <p:sp>
          <p:nvSpPr>
            <p:cNvPr id="18" name="Freeform 18"/>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3"/>
              <a:stretch>
                <a:fillRect b="1"/>
              </a:stretch>
            </a:blipFill>
          </p:spPr>
        </p:sp>
      </p:grpSp>
      <p:sp>
        <p:nvSpPr>
          <p:cNvPr id="19" name="TextBox 19"/>
          <p:cNvSpPr txBox="1"/>
          <p:nvPr/>
        </p:nvSpPr>
        <p:spPr>
          <a:xfrm>
            <a:off x="6186541" y="1764506"/>
            <a:ext cx="5851595" cy="8055513"/>
          </a:xfrm>
          <a:prstGeom prst="rect">
            <a:avLst/>
          </a:prstGeom>
        </p:spPr>
        <p:txBody>
          <a:bodyPr lIns="0" tIns="0" rIns="0" bIns="0" rtlCol="0" anchor="t">
            <a:spAutoFit/>
          </a:bodyPr>
          <a:lstStyle/>
          <a:p>
            <a:pPr marL="0" lvl="0" indent="0" algn="ctr">
              <a:lnSpc>
                <a:spcPts val="2389"/>
              </a:lnSpc>
              <a:spcBef>
                <a:spcPct val="0"/>
              </a:spcBef>
            </a:pPr>
            <a:r>
              <a:rPr lang="en-US" sz="1991" b="1" u="none" strike="noStrike">
                <a:solidFill>
                  <a:srgbClr val="000000"/>
                </a:solidFill>
                <a:latin typeface="Arial Bold"/>
                <a:ea typeface="Arial Bold"/>
                <a:cs typeface="Arial Bold"/>
                <a:sym typeface="Arial Bold"/>
              </a:rPr>
              <a:t>HEALTHCARE / CARE BENEFITS</a:t>
            </a:r>
          </a:p>
          <a:p>
            <a:pPr marL="0" lvl="0" indent="0" algn="ctr">
              <a:lnSpc>
                <a:spcPts val="2389"/>
              </a:lnSpc>
              <a:spcBef>
                <a:spcPct val="0"/>
              </a:spcBef>
            </a:pPr>
            <a:endParaRPr lang="en-US" sz="1991" b="1" u="none" strike="noStrike">
              <a:solidFill>
                <a:srgbClr val="000000"/>
              </a:solidFill>
              <a:latin typeface="Arial Bold"/>
              <a:ea typeface="Arial Bold"/>
              <a:cs typeface="Arial Bold"/>
              <a:sym typeface="Arial Bold"/>
            </a:endParaRPr>
          </a:p>
          <a:p>
            <a:pPr marL="0" lvl="0" indent="0" algn="l">
              <a:lnSpc>
                <a:spcPts val="2510"/>
              </a:lnSpc>
              <a:spcBef>
                <a:spcPct val="0"/>
              </a:spcBef>
            </a:pPr>
            <a:r>
              <a:rPr lang="en-US" sz="2091" b="1" u="none" strike="noStrike">
                <a:solidFill>
                  <a:srgbClr val="000000"/>
                </a:solidFill>
                <a:latin typeface="Arial Bold"/>
                <a:ea typeface="Arial Bold"/>
                <a:cs typeface="Arial Bold"/>
                <a:sym typeface="Arial Bold"/>
              </a:rPr>
              <a:t>➢ Personalized cognitive training: </a:t>
            </a:r>
            <a:r>
              <a:rPr lang="en-US" sz="2091" u="none" strike="noStrike">
                <a:solidFill>
                  <a:srgbClr val="000000"/>
                </a:solidFill>
                <a:latin typeface="Arial"/>
                <a:ea typeface="Arial"/>
                <a:cs typeface="Arial"/>
                <a:sym typeface="Arial"/>
              </a:rPr>
              <a:t>AI dynamically adjusts game difficulty according </a:t>
            </a:r>
          </a:p>
          <a:p>
            <a:pPr marL="0" lvl="0" indent="0" algn="l">
              <a:lnSpc>
                <a:spcPts val="2510"/>
              </a:lnSpc>
              <a:spcBef>
                <a:spcPct val="0"/>
              </a:spcBef>
            </a:pPr>
            <a:r>
              <a:rPr lang="en-US" sz="2091" u="none" strike="noStrike">
                <a:solidFill>
                  <a:srgbClr val="000000"/>
                </a:solidFill>
                <a:latin typeface="Arial"/>
                <a:ea typeface="Arial"/>
                <a:cs typeface="Arial"/>
                <a:sym typeface="Arial"/>
              </a:rPr>
              <a:t>to individual performance rather than providing </a:t>
            </a:r>
          </a:p>
          <a:p>
            <a:pPr marL="0" lvl="0" indent="0" algn="l">
              <a:lnSpc>
                <a:spcPts val="2510"/>
              </a:lnSpc>
              <a:spcBef>
                <a:spcPct val="0"/>
              </a:spcBef>
            </a:pPr>
            <a:r>
              <a:rPr lang="en-US" sz="2091" u="none" strike="noStrike">
                <a:solidFill>
                  <a:srgbClr val="000000"/>
                </a:solidFill>
                <a:latin typeface="Arial"/>
                <a:ea typeface="Arial"/>
                <a:cs typeface="Arial"/>
                <a:sym typeface="Arial"/>
              </a:rPr>
              <a:t>the same activities to every patient.</a:t>
            </a:r>
          </a:p>
          <a:p>
            <a:pPr marL="0" lvl="0" indent="0" algn="ctr">
              <a:lnSpc>
                <a:spcPts val="2389"/>
              </a:lnSpc>
              <a:spcBef>
                <a:spcPct val="0"/>
              </a:spcBef>
            </a:pPr>
            <a:endParaRPr lang="en-US" sz="2091" u="none" strike="noStrike">
              <a:solidFill>
                <a:srgbClr val="000000"/>
              </a:solidFill>
              <a:latin typeface="Arial"/>
              <a:ea typeface="Arial"/>
              <a:cs typeface="Arial"/>
              <a:sym typeface="Arial"/>
            </a:endParaRPr>
          </a:p>
          <a:p>
            <a:pPr marL="0" lvl="0" indent="0" algn="l">
              <a:lnSpc>
                <a:spcPts val="2510"/>
              </a:lnSpc>
              <a:spcBef>
                <a:spcPct val="0"/>
              </a:spcBef>
            </a:pPr>
            <a:r>
              <a:rPr lang="en-US" sz="2091" b="1" u="none" strike="noStrike">
                <a:solidFill>
                  <a:srgbClr val="000000"/>
                </a:solidFill>
                <a:latin typeface="Arial Bold"/>
                <a:ea typeface="Arial Bold"/>
                <a:cs typeface="Arial Bold"/>
                <a:sym typeface="Arial Bold"/>
              </a:rPr>
              <a:t>➢ Continuous performance tracking: </a:t>
            </a:r>
          </a:p>
          <a:p>
            <a:pPr marL="0" lvl="0" indent="0" algn="l">
              <a:lnSpc>
                <a:spcPts val="2510"/>
              </a:lnSpc>
              <a:spcBef>
                <a:spcPct val="0"/>
              </a:spcBef>
            </a:pPr>
            <a:r>
              <a:rPr lang="en-US" sz="2091" u="none" strike="noStrike">
                <a:solidFill>
                  <a:srgbClr val="000000"/>
                </a:solidFill>
                <a:latin typeface="Arial"/>
                <a:ea typeface="Arial"/>
                <a:cs typeface="Arial"/>
                <a:sym typeface="Arial"/>
              </a:rPr>
              <a:t>Accuracy, response time, mistakes and </a:t>
            </a:r>
          </a:p>
          <a:p>
            <a:pPr marL="0" lvl="0" indent="0" algn="l">
              <a:lnSpc>
                <a:spcPts val="2510"/>
              </a:lnSpc>
              <a:spcBef>
                <a:spcPct val="0"/>
              </a:spcBef>
            </a:pPr>
            <a:r>
              <a:rPr lang="en-US" sz="2091" u="none" strike="noStrike">
                <a:solidFill>
                  <a:srgbClr val="000000"/>
                </a:solidFill>
                <a:latin typeface="Arial"/>
                <a:ea typeface="Arial"/>
                <a:cs typeface="Arial"/>
                <a:sym typeface="Arial"/>
              </a:rPr>
              <a:t>activity completion can be recorded across sessions to identify performance trends.</a:t>
            </a:r>
          </a:p>
          <a:p>
            <a:pPr marL="0" lvl="0" indent="0" algn="ctr">
              <a:lnSpc>
                <a:spcPts val="2389"/>
              </a:lnSpc>
              <a:spcBef>
                <a:spcPct val="0"/>
              </a:spcBef>
            </a:pPr>
            <a:endParaRPr lang="en-US" sz="2091" u="none" strike="noStrike">
              <a:solidFill>
                <a:srgbClr val="000000"/>
              </a:solidFill>
              <a:latin typeface="Arial"/>
              <a:ea typeface="Arial"/>
              <a:cs typeface="Arial"/>
              <a:sym typeface="Arial"/>
            </a:endParaRPr>
          </a:p>
          <a:p>
            <a:pPr marL="0" lvl="0" indent="0" algn="l">
              <a:lnSpc>
                <a:spcPts val="2510"/>
              </a:lnSpc>
              <a:spcBef>
                <a:spcPct val="0"/>
              </a:spcBef>
            </a:pPr>
            <a:r>
              <a:rPr lang="en-US" sz="2091" b="1" u="none" strike="noStrike">
                <a:solidFill>
                  <a:srgbClr val="000000"/>
                </a:solidFill>
                <a:latin typeface="Arial Bold"/>
                <a:ea typeface="Arial Bold"/>
                <a:cs typeface="Arial Bold"/>
                <a:sym typeface="Arial Bold"/>
              </a:rPr>
              <a:t>➢ Early awareness of changes: </a:t>
            </a:r>
            <a:r>
              <a:rPr lang="en-US" sz="2091" u="none" strike="noStrike">
                <a:solidFill>
                  <a:srgbClr val="000000"/>
                </a:solidFill>
                <a:latin typeface="Arial"/>
                <a:ea typeface="Arial"/>
                <a:cs typeface="Arial"/>
                <a:sym typeface="Arial"/>
              </a:rPr>
              <a:t>Changes in game performance or routine adherence can provide useful signals for caregivers to monitor and discuss with healthcare professionals.</a:t>
            </a:r>
          </a:p>
          <a:p>
            <a:pPr marL="0" lvl="0" indent="0" algn="ctr">
              <a:lnSpc>
                <a:spcPts val="2389"/>
              </a:lnSpc>
              <a:spcBef>
                <a:spcPct val="0"/>
              </a:spcBef>
            </a:pPr>
            <a:endParaRPr lang="en-US" sz="2091" u="none" strike="noStrike">
              <a:solidFill>
                <a:srgbClr val="000000"/>
              </a:solidFill>
              <a:latin typeface="Arial"/>
              <a:ea typeface="Arial"/>
              <a:cs typeface="Arial"/>
              <a:sym typeface="Arial"/>
            </a:endParaRPr>
          </a:p>
          <a:p>
            <a:pPr marL="0" lvl="0" indent="0" algn="l">
              <a:lnSpc>
                <a:spcPts val="2510"/>
              </a:lnSpc>
              <a:spcBef>
                <a:spcPct val="0"/>
              </a:spcBef>
            </a:pPr>
            <a:r>
              <a:rPr lang="en-US" sz="2091" b="1" u="none" strike="noStrike">
                <a:solidFill>
                  <a:srgbClr val="000000"/>
                </a:solidFill>
                <a:latin typeface="Arial Bold"/>
                <a:ea typeface="Arial Bold"/>
                <a:cs typeface="Arial Bold"/>
                <a:sym typeface="Arial Bold"/>
              </a:rPr>
              <a:t>➢ Daily routine assistance: </a:t>
            </a:r>
            <a:r>
              <a:rPr lang="en-US" sz="2091" u="none" strike="noStrike">
                <a:solidFill>
                  <a:srgbClr val="000000"/>
                </a:solidFill>
                <a:latin typeface="Arial"/>
                <a:ea typeface="Arial"/>
                <a:cs typeface="Arial"/>
                <a:sym typeface="Arial"/>
              </a:rPr>
              <a:t>Automated reminders support medication, hydration,</a:t>
            </a:r>
          </a:p>
          <a:p>
            <a:pPr marL="0" lvl="0" indent="0" algn="l">
              <a:lnSpc>
                <a:spcPts val="2510"/>
              </a:lnSpc>
              <a:spcBef>
                <a:spcPct val="0"/>
              </a:spcBef>
            </a:pPr>
            <a:r>
              <a:rPr lang="en-US" sz="2091" u="none" strike="noStrike">
                <a:solidFill>
                  <a:srgbClr val="000000"/>
                </a:solidFill>
                <a:latin typeface="Arial"/>
                <a:ea typeface="Arial"/>
                <a:cs typeface="Arial"/>
                <a:sym typeface="Arial"/>
              </a:rPr>
              <a:t> activities and medical appointments.</a:t>
            </a:r>
          </a:p>
          <a:p>
            <a:pPr marL="0" lvl="0" indent="0" algn="ctr">
              <a:lnSpc>
                <a:spcPts val="2389"/>
              </a:lnSpc>
              <a:spcBef>
                <a:spcPct val="0"/>
              </a:spcBef>
            </a:pPr>
            <a:endParaRPr lang="en-US" sz="2091" u="none" strike="noStrike">
              <a:solidFill>
                <a:srgbClr val="000000"/>
              </a:solidFill>
              <a:latin typeface="Arial"/>
              <a:ea typeface="Arial"/>
              <a:cs typeface="Arial"/>
              <a:sym typeface="Arial"/>
            </a:endParaRPr>
          </a:p>
          <a:p>
            <a:pPr marL="0" lvl="0" indent="0" algn="l">
              <a:lnSpc>
                <a:spcPts val="2510"/>
              </a:lnSpc>
              <a:spcBef>
                <a:spcPct val="0"/>
              </a:spcBef>
            </a:pPr>
            <a:r>
              <a:rPr lang="en-US" sz="2091" b="1" u="none" strike="noStrike">
                <a:solidFill>
                  <a:srgbClr val="000000"/>
                </a:solidFill>
                <a:latin typeface="Arial Bold"/>
                <a:ea typeface="Arial Bold"/>
                <a:cs typeface="Arial Bold"/>
                <a:sym typeface="Arial Bold"/>
              </a:rPr>
              <a:t>➢ Reduced dependency on complex interfaces: </a:t>
            </a:r>
            <a:r>
              <a:rPr lang="en-US" sz="2091" u="none" strike="noStrike">
                <a:solidFill>
                  <a:srgbClr val="000000"/>
                </a:solidFill>
                <a:latin typeface="Arial"/>
                <a:ea typeface="Arial"/>
                <a:cs typeface="Arial"/>
                <a:sym typeface="Arial"/>
              </a:rPr>
              <a:t>Large visuals, simple navigation </a:t>
            </a:r>
          </a:p>
          <a:p>
            <a:pPr marL="0" lvl="0" indent="0" algn="l">
              <a:lnSpc>
                <a:spcPts val="2510"/>
              </a:lnSpc>
              <a:spcBef>
                <a:spcPct val="0"/>
              </a:spcBef>
            </a:pPr>
            <a:r>
              <a:rPr lang="en-US" sz="2091" u="none" strike="noStrike">
                <a:solidFill>
                  <a:srgbClr val="000000"/>
                </a:solidFill>
                <a:latin typeface="Arial"/>
                <a:ea typeface="Arial"/>
                <a:cs typeface="Arial"/>
                <a:sym typeface="Arial"/>
              </a:rPr>
              <a:t>and voice interaction make the platform more accessible to elderly users.</a:t>
            </a:r>
          </a:p>
          <a:p>
            <a:pPr marL="0" lvl="0" indent="0" algn="ctr">
              <a:lnSpc>
                <a:spcPts val="2389"/>
              </a:lnSpc>
              <a:spcBef>
                <a:spcPct val="0"/>
              </a:spcBef>
            </a:pPr>
            <a:endParaRPr lang="en-US" sz="2091" u="none" strike="noStrike">
              <a:solidFill>
                <a:srgbClr val="000000"/>
              </a:solidFill>
              <a:latin typeface="Arial"/>
              <a:ea typeface="Arial"/>
              <a:cs typeface="Arial"/>
              <a:sym typeface="Arial"/>
            </a:endParaRPr>
          </a:p>
        </p:txBody>
      </p:sp>
      <p:grpSp>
        <p:nvGrpSpPr>
          <p:cNvPr id="20" name="Group 20"/>
          <p:cNvGrpSpPr/>
          <p:nvPr/>
        </p:nvGrpSpPr>
        <p:grpSpPr>
          <a:xfrm>
            <a:off x="0" y="1632821"/>
            <a:ext cx="5965611" cy="7899323"/>
            <a:chOff x="0" y="0"/>
            <a:chExt cx="1571190" cy="2080480"/>
          </a:xfrm>
        </p:grpSpPr>
        <p:sp>
          <p:nvSpPr>
            <p:cNvPr id="21" name="Freeform 21"/>
            <p:cNvSpPr/>
            <p:nvPr/>
          </p:nvSpPr>
          <p:spPr>
            <a:xfrm>
              <a:off x="0" y="0"/>
              <a:ext cx="1571190" cy="2080480"/>
            </a:xfrm>
            <a:custGeom>
              <a:avLst/>
              <a:gdLst/>
              <a:ahLst/>
              <a:cxnLst/>
              <a:rect l="l" t="t" r="r" b="b"/>
              <a:pathLst>
                <a:path w="1571190" h="2080480">
                  <a:moveTo>
                    <a:pt x="0" y="0"/>
                  </a:moveTo>
                  <a:lnTo>
                    <a:pt x="1571190" y="0"/>
                  </a:lnTo>
                  <a:lnTo>
                    <a:pt x="1571190" y="2080480"/>
                  </a:lnTo>
                  <a:lnTo>
                    <a:pt x="0" y="2080480"/>
                  </a:lnTo>
                  <a:close/>
                </a:path>
              </a:pathLst>
            </a:custGeom>
            <a:ln w="14288" cap="sq">
              <a:solidFill>
                <a:srgbClr val="000000"/>
              </a:solidFill>
              <a:prstDash val="solid"/>
              <a:miter/>
            </a:ln>
          </p:spPr>
        </p:sp>
        <p:sp>
          <p:nvSpPr>
            <p:cNvPr id="22" name="TextBox 22"/>
            <p:cNvSpPr txBox="1"/>
            <p:nvPr/>
          </p:nvSpPr>
          <p:spPr>
            <a:xfrm>
              <a:off x="0" y="-19050"/>
              <a:ext cx="1571190" cy="2099530"/>
            </a:xfrm>
            <a:prstGeom prst="rect">
              <a:avLst/>
            </a:prstGeom>
          </p:spPr>
          <p:txBody>
            <a:bodyPr lIns="50800" tIns="50800" rIns="50800" bIns="50800" rtlCol="0" anchor="ctr"/>
            <a:lstStyle/>
            <a:p>
              <a:pPr algn="ctr">
                <a:lnSpc>
                  <a:spcPts val="2400"/>
                </a:lnSpc>
              </a:pPr>
              <a:endParaRPr/>
            </a:p>
          </p:txBody>
        </p:sp>
      </p:grpSp>
      <p:sp>
        <p:nvSpPr>
          <p:cNvPr id="23" name="TextBox 23"/>
          <p:cNvSpPr txBox="1"/>
          <p:nvPr/>
        </p:nvSpPr>
        <p:spPr>
          <a:xfrm>
            <a:off x="11835451" y="1726406"/>
            <a:ext cx="6243019" cy="8093613"/>
          </a:xfrm>
          <a:prstGeom prst="rect">
            <a:avLst/>
          </a:prstGeom>
        </p:spPr>
        <p:txBody>
          <a:bodyPr lIns="0" tIns="0" rIns="0" bIns="0" rtlCol="0" anchor="t">
            <a:spAutoFit/>
          </a:bodyPr>
          <a:lstStyle/>
          <a:p>
            <a:pPr marL="0" lvl="0" indent="0" algn="ctr">
              <a:lnSpc>
                <a:spcPts val="2922"/>
              </a:lnSpc>
              <a:spcBef>
                <a:spcPct val="0"/>
              </a:spcBef>
            </a:pPr>
            <a:r>
              <a:rPr lang="en-US" sz="2087" b="1" u="none" strike="noStrike">
                <a:solidFill>
                  <a:srgbClr val="000000"/>
                </a:solidFill>
                <a:latin typeface="Canva Sans Bold"/>
                <a:ea typeface="Canva Sans Bold"/>
                <a:cs typeface="Canva Sans Bold"/>
                <a:sym typeface="Canva Sans Bold"/>
              </a:rPr>
              <a:t>ECONOMIC &amp; REGIONAL BENEFITS</a:t>
            </a:r>
          </a:p>
          <a:p>
            <a:pPr marL="0" lvl="0" indent="0" algn="l">
              <a:lnSpc>
                <a:spcPts val="2362"/>
              </a:lnSpc>
              <a:spcBef>
                <a:spcPct val="0"/>
              </a:spcBef>
            </a:pPr>
            <a:endParaRPr lang="en-US" sz="2087" b="1" u="none" strike="noStrike">
              <a:solidFill>
                <a:srgbClr val="000000"/>
              </a:solidFill>
              <a:latin typeface="Canva Sans Bold"/>
              <a:ea typeface="Canva Sans Bold"/>
              <a:cs typeface="Canva Sans Bold"/>
              <a:sym typeface="Canva Sans Bold"/>
            </a:endParaRPr>
          </a:p>
          <a:p>
            <a:pPr marL="0" lvl="0" indent="0" algn="l">
              <a:lnSpc>
                <a:spcPts val="2618"/>
              </a:lnSpc>
              <a:spcBef>
                <a:spcPct val="0"/>
              </a:spcBef>
            </a:pPr>
            <a:r>
              <a:rPr lang="en-US" sz="1870" b="1" u="none" strike="noStrike">
                <a:solidFill>
                  <a:srgbClr val="000000"/>
                </a:solidFill>
                <a:latin typeface="Canva Sans Bold"/>
                <a:ea typeface="Canva Sans Bold"/>
                <a:cs typeface="Canva Sans Bold"/>
                <a:sym typeface="Canva Sans Bold"/>
              </a:rPr>
              <a:t>➢ Extends cognitive support to underserved areas:</a:t>
            </a:r>
            <a:r>
              <a:rPr lang="en-US" sz="1870" u="none" strike="noStrike">
                <a:solidFill>
                  <a:srgbClr val="000000"/>
                </a:solidFill>
                <a:latin typeface="Canva Sans"/>
                <a:ea typeface="Canva Sans"/>
                <a:cs typeface="Canva Sans"/>
                <a:sym typeface="Canva Sans"/>
              </a:rPr>
              <a:t> A web-based platform can provide supplementary cognitive activities where access to specialized care and therapy is limited.</a:t>
            </a:r>
          </a:p>
          <a:p>
            <a:pPr marL="0" lvl="0" indent="0" algn="l">
              <a:lnSpc>
                <a:spcPts val="2618"/>
              </a:lnSpc>
              <a:spcBef>
                <a:spcPct val="0"/>
              </a:spcBef>
            </a:pPr>
            <a:endParaRPr lang="en-US" sz="1870" u="none" strike="noStrike">
              <a:solidFill>
                <a:srgbClr val="000000"/>
              </a:solidFill>
              <a:latin typeface="Canva Sans"/>
              <a:ea typeface="Canva Sans"/>
              <a:cs typeface="Canva Sans"/>
              <a:sym typeface="Canva Sans"/>
            </a:endParaRPr>
          </a:p>
          <a:p>
            <a:pPr marL="0" lvl="0" indent="0" algn="l">
              <a:lnSpc>
                <a:spcPts val="2618"/>
              </a:lnSpc>
              <a:spcBef>
                <a:spcPct val="0"/>
              </a:spcBef>
            </a:pPr>
            <a:r>
              <a:rPr lang="en-US" sz="1870" b="1" u="none" strike="noStrike">
                <a:solidFill>
                  <a:srgbClr val="000000"/>
                </a:solidFill>
                <a:latin typeface="Canva Sans Bold"/>
                <a:ea typeface="Canva Sans Bold"/>
                <a:cs typeface="Canva Sans Bold"/>
                <a:sym typeface="Canva Sans Bold"/>
              </a:rPr>
              <a:t>➢ Lower-cost continuous support: </a:t>
            </a:r>
            <a:r>
              <a:rPr lang="en-US" sz="1870" u="none" strike="noStrike">
                <a:solidFill>
                  <a:srgbClr val="000000"/>
                </a:solidFill>
                <a:latin typeface="Canva Sans"/>
                <a:ea typeface="Canva Sans"/>
                <a:cs typeface="Canva Sans"/>
                <a:sym typeface="Canva Sans"/>
              </a:rPr>
              <a:t>Digital cognitive activities and reminders can complement existing caregiver and healthcare support without requiring a physical facility for every session.</a:t>
            </a:r>
          </a:p>
          <a:p>
            <a:pPr marL="0" lvl="0" indent="0" algn="l">
              <a:lnSpc>
                <a:spcPts val="2618"/>
              </a:lnSpc>
              <a:spcBef>
                <a:spcPct val="0"/>
              </a:spcBef>
            </a:pPr>
            <a:endParaRPr lang="en-US" sz="1870" u="none" strike="noStrike">
              <a:solidFill>
                <a:srgbClr val="000000"/>
              </a:solidFill>
              <a:latin typeface="Canva Sans"/>
              <a:ea typeface="Canva Sans"/>
              <a:cs typeface="Canva Sans"/>
              <a:sym typeface="Canva Sans"/>
            </a:endParaRPr>
          </a:p>
          <a:p>
            <a:pPr marL="0" lvl="0" indent="0" algn="l">
              <a:lnSpc>
                <a:spcPts val="2618"/>
              </a:lnSpc>
              <a:spcBef>
                <a:spcPct val="0"/>
              </a:spcBef>
            </a:pPr>
            <a:r>
              <a:rPr lang="en-US" sz="1870" b="1" u="none" strike="noStrike">
                <a:solidFill>
                  <a:srgbClr val="000000"/>
                </a:solidFill>
                <a:latin typeface="Canva Sans Bold"/>
                <a:ea typeface="Canva Sans Bold"/>
                <a:cs typeface="Canva Sans Bold"/>
                <a:sym typeface="Canva Sans Bold"/>
              </a:rPr>
              <a:t>➢ NER-focused personalization:</a:t>
            </a:r>
            <a:r>
              <a:rPr lang="en-US" sz="1870" u="none" strike="noStrike">
                <a:solidFill>
                  <a:srgbClr val="000000"/>
                </a:solidFill>
                <a:latin typeface="Canva Sans"/>
                <a:ea typeface="Canva Sans"/>
                <a:cs typeface="Canva Sans"/>
                <a:sym typeface="Canva Sans"/>
              </a:rPr>
              <a:t> Regional languages, familiar visuals, sounds and cultural themes can improve acceptance and engagement among users in the North Eastern Region.</a:t>
            </a:r>
          </a:p>
          <a:p>
            <a:pPr marL="0" lvl="0" indent="0" algn="l">
              <a:lnSpc>
                <a:spcPts val="2618"/>
              </a:lnSpc>
              <a:spcBef>
                <a:spcPct val="0"/>
              </a:spcBef>
            </a:pPr>
            <a:endParaRPr lang="en-US" sz="1870" u="none" strike="noStrike">
              <a:solidFill>
                <a:srgbClr val="000000"/>
              </a:solidFill>
              <a:latin typeface="Canva Sans"/>
              <a:ea typeface="Canva Sans"/>
              <a:cs typeface="Canva Sans"/>
              <a:sym typeface="Canva Sans"/>
            </a:endParaRPr>
          </a:p>
          <a:p>
            <a:pPr marL="0" lvl="0" indent="0" algn="l">
              <a:lnSpc>
                <a:spcPts val="2618"/>
              </a:lnSpc>
              <a:spcBef>
                <a:spcPct val="0"/>
              </a:spcBef>
            </a:pPr>
            <a:r>
              <a:rPr lang="en-US" sz="1870" b="1" u="none" strike="noStrike">
                <a:solidFill>
                  <a:srgbClr val="000000"/>
                </a:solidFill>
                <a:latin typeface="Canva Sans Bold"/>
                <a:ea typeface="Canva Sans Bold"/>
                <a:cs typeface="Canva Sans Bold"/>
                <a:sym typeface="Canva Sans Bold"/>
              </a:rPr>
              <a:t>➢ Scalable platform: </a:t>
            </a:r>
            <a:r>
              <a:rPr lang="en-US" sz="1870" u="none" strike="noStrike">
                <a:solidFill>
                  <a:srgbClr val="000000"/>
                </a:solidFill>
                <a:latin typeface="Canva Sans"/>
                <a:ea typeface="Canva Sans"/>
                <a:cs typeface="Canva Sans"/>
                <a:sym typeface="Canva Sans"/>
              </a:rPr>
              <a:t>The same architecture can be extended to more patients, caregivers, languages, cognitive activities and NER locations.</a:t>
            </a:r>
          </a:p>
          <a:p>
            <a:pPr marL="0" lvl="0" indent="0" algn="l">
              <a:lnSpc>
                <a:spcPts val="2618"/>
              </a:lnSpc>
              <a:spcBef>
                <a:spcPct val="0"/>
              </a:spcBef>
            </a:pPr>
            <a:endParaRPr lang="en-US" sz="1870" u="none" strike="noStrike">
              <a:solidFill>
                <a:srgbClr val="000000"/>
              </a:solidFill>
              <a:latin typeface="Canva Sans"/>
              <a:ea typeface="Canva Sans"/>
              <a:cs typeface="Canva Sans"/>
              <a:sym typeface="Canva Sans"/>
            </a:endParaRPr>
          </a:p>
          <a:p>
            <a:pPr marL="0" lvl="0" indent="0" algn="l">
              <a:lnSpc>
                <a:spcPts val="2618"/>
              </a:lnSpc>
              <a:spcBef>
                <a:spcPct val="0"/>
              </a:spcBef>
            </a:pPr>
            <a:r>
              <a:rPr lang="en-US" sz="1870" b="1" u="none" strike="noStrike">
                <a:solidFill>
                  <a:srgbClr val="000000"/>
                </a:solidFill>
                <a:latin typeface="Canva Sans Bold"/>
                <a:ea typeface="Canva Sans Bold"/>
                <a:cs typeface="Canva Sans Bold"/>
                <a:sym typeface="Canva Sans Bold"/>
              </a:rPr>
              <a:t>➢ Efficient caregiver monitoring: </a:t>
            </a:r>
            <a:r>
              <a:rPr lang="en-US" sz="1870" u="none" strike="noStrike">
                <a:solidFill>
                  <a:srgbClr val="000000"/>
                </a:solidFill>
                <a:latin typeface="Canva Sans"/>
                <a:ea typeface="Canva Sans"/>
                <a:cs typeface="Canva Sans"/>
                <a:sym typeface="Canva Sans"/>
              </a:rPr>
              <a:t>Digital performance records reduce dependence on manually tracking every cognitive-training session.</a:t>
            </a:r>
          </a:p>
          <a:p>
            <a:pPr marL="0" lvl="0" indent="0" algn="l">
              <a:lnSpc>
                <a:spcPts val="2618"/>
              </a:lnSpc>
              <a:spcBef>
                <a:spcPct val="0"/>
              </a:spcBef>
            </a:pPr>
            <a:endParaRPr lang="en-US" sz="1870" u="none" strike="noStrike">
              <a:solidFill>
                <a:srgbClr val="000000"/>
              </a:solidFill>
              <a:latin typeface="Canva Sans"/>
              <a:ea typeface="Canva Sans"/>
              <a:cs typeface="Canva Sans"/>
              <a:sym typeface="Canva Sans"/>
            </a:endParaRPr>
          </a:p>
        </p:txBody>
      </p:sp>
      <p:grpSp>
        <p:nvGrpSpPr>
          <p:cNvPr id="24" name="Group 24"/>
          <p:cNvGrpSpPr/>
          <p:nvPr/>
        </p:nvGrpSpPr>
        <p:grpSpPr>
          <a:xfrm>
            <a:off x="11778301" y="1632821"/>
            <a:ext cx="6509699" cy="7899323"/>
            <a:chOff x="0" y="0"/>
            <a:chExt cx="1714489" cy="2080480"/>
          </a:xfrm>
        </p:grpSpPr>
        <p:sp>
          <p:nvSpPr>
            <p:cNvPr id="25" name="Freeform 25"/>
            <p:cNvSpPr/>
            <p:nvPr/>
          </p:nvSpPr>
          <p:spPr>
            <a:xfrm>
              <a:off x="0" y="0"/>
              <a:ext cx="1714489" cy="2080480"/>
            </a:xfrm>
            <a:custGeom>
              <a:avLst/>
              <a:gdLst/>
              <a:ahLst/>
              <a:cxnLst/>
              <a:rect l="l" t="t" r="r" b="b"/>
              <a:pathLst>
                <a:path w="1714489" h="2080480">
                  <a:moveTo>
                    <a:pt x="0" y="0"/>
                  </a:moveTo>
                  <a:lnTo>
                    <a:pt x="1714489" y="0"/>
                  </a:lnTo>
                  <a:lnTo>
                    <a:pt x="1714489" y="2080480"/>
                  </a:lnTo>
                  <a:lnTo>
                    <a:pt x="0" y="2080480"/>
                  </a:lnTo>
                  <a:close/>
                </a:path>
              </a:pathLst>
            </a:custGeom>
            <a:ln w="14288" cap="sq">
              <a:solidFill>
                <a:srgbClr val="000000"/>
              </a:solidFill>
              <a:prstDash val="solid"/>
              <a:miter/>
            </a:ln>
          </p:spPr>
        </p:sp>
        <p:sp>
          <p:nvSpPr>
            <p:cNvPr id="26" name="TextBox 26"/>
            <p:cNvSpPr txBox="1"/>
            <p:nvPr/>
          </p:nvSpPr>
          <p:spPr>
            <a:xfrm>
              <a:off x="0" y="-19050"/>
              <a:ext cx="1714489" cy="2099530"/>
            </a:xfrm>
            <a:prstGeom prst="rect">
              <a:avLst/>
            </a:prstGeom>
          </p:spPr>
          <p:txBody>
            <a:bodyPr lIns="50800" tIns="50800" rIns="50800" bIns="50800" rtlCol="0" anchor="ctr"/>
            <a:lstStyle/>
            <a:p>
              <a:pPr algn="ctr">
                <a:lnSpc>
                  <a:spcPts val="2400"/>
                </a:lnSpc>
              </a:pPr>
              <a:endParaRPr/>
            </a:p>
          </p:txBody>
        </p:sp>
      </p:grpSp>
      <p:grpSp>
        <p:nvGrpSpPr>
          <p:cNvPr id="27" name="Group 27"/>
          <p:cNvGrpSpPr/>
          <p:nvPr/>
        </p:nvGrpSpPr>
        <p:grpSpPr>
          <a:xfrm>
            <a:off x="5965611" y="1632821"/>
            <a:ext cx="5812689" cy="7899323"/>
            <a:chOff x="0" y="0"/>
            <a:chExt cx="1530914" cy="2080480"/>
          </a:xfrm>
        </p:grpSpPr>
        <p:sp>
          <p:nvSpPr>
            <p:cNvPr id="28" name="Freeform 28"/>
            <p:cNvSpPr/>
            <p:nvPr/>
          </p:nvSpPr>
          <p:spPr>
            <a:xfrm>
              <a:off x="0" y="0"/>
              <a:ext cx="1530914" cy="2080480"/>
            </a:xfrm>
            <a:custGeom>
              <a:avLst/>
              <a:gdLst/>
              <a:ahLst/>
              <a:cxnLst/>
              <a:rect l="l" t="t" r="r" b="b"/>
              <a:pathLst>
                <a:path w="1530914" h="2080480">
                  <a:moveTo>
                    <a:pt x="0" y="0"/>
                  </a:moveTo>
                  <a:lnTo>
                    <a:pt x="1530914" y="0"/>
                  </a:lnTo>
                  <a:lnTo>
                    <a:pt x="1530914" y="2080480"/>
                  </a:lnTo>
                  <a:lnTo>
                    <a:pt x="0" y="2080480"/>
                  </a:lnTo>
                  <a:close/>
                </a:path>
              </a:pathLst>
            </a:custGeom>
            <a:ln w="14288" cap="sq">
              <a:solidFill>
                <a:srgbClr val="000000"/>
              </a:solidFill>
              <a:prstDash val="solid"/>
              <a:miter/>
            </a:ln>
          </p:spPr>
        </p:sp>
        <p:sp>
          <p:nvSpPr>
            <p:cNvPr id="29" name="TextBox 29"/>
            <p:cNvSpPr txBox="1"/>
            <p:nvPr/>
          </p:nvSpPr>
          <p:spPr>
            <a:xfrm>
              <a:off x="0" y="-19050"/>
              <a:ext cx="1530914" cy="2099530"/>
            </a:xfrm>
            <a:prstGeom prst="rect">
              <a:avLst/>
            </a:prstGeom>
          </p:spPr>
          <p:txBody>
            <a:bodyPr lIns="50800" tIns="50800" rIns="50800" bIns="50800" rtlCol="0" anchor="ctr"/>
            <a:lstStyle/>
            <a:p>
              <a:pPr algn="ctr">
                <a:lnSpc>
                  <a:spcPts val="2400"/>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914400" y="-71438"/>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r>
                <a:rPr lang="en-US" sz="5400" b="1">
                  <a:solidFill>
                    <a:srgbClr val="000000"/>
                  </a:solidFill>
                  <a:latin typeface="Times New Roman Bold"/>
                  <a:ea typeface="Times New Roman Bold"/>
                  <a:cs typeface="Times New Roman Bold"/>
                  <a:sym typeface="Times New Roman Bold"/>
                </a:rPr>
                <a:t>RESEARCH  AND REFERENCES</a:t>
              </a:r>
            </a:p>
          </p:txBody>
        </p:sp>
      </p:grpSp>
      <p:sp>
        <p:nvSpPr>
          <p:cNvPr id="7" name="TextBox 7"/>
          <p:cNvSpPr txBox="1"/>
          <p:nvPr/>
        </p:nvSpPr>
        <p:spPr>
          <a:xfrm>
            <a:off x="1005840" y="4219565"/>
            <a:ext cx="9525" cy="657225"/>
          </a:xfrm>
          <a:prstGeom prst="rect">
            <a:avLst/>
          </a:prstGeom>
        </p:spPr>
        <p:txBody>
          <a:bodyPr lIns="0" tIns="0" rIns="0" bIns="0" rtlCol="0" anchor="t">
            <a:spAutoFit/>
          </a:bodyPr>
          <a:lstStyle/>
          <a:p>
            <a:pPr algn="just">
              <a:lnSpc>
                <a:spcPts val="5040"/>
              </a:lnSpc>
            </a:pPr>
            <a:endParaRPr/>
          </a:p>
        </p:txBody>
      </p:sp>
      <p:grpSp>
        <p:nvGrpSpPr>
          <p:cNvPr id="8" name="Group 8"/>
          <p:cNvGrpSpPr/>
          <p:nvPr/>
        </p:nvGrpSpPr>
        <p:grpSpPr>
          <a:xfrm>
            <a:off x="13106400" y="9534525"/>
            <a:ext cx="4267200" cy="547688"/>
            <a:chOff x="0" y="0"/>
            <a:chExt cx="5689600" cy="730250"/>
          </a:xfrm>
        </p:grpSpPr>
        <p:sp>
          <p:nvSpPr>
            <p:cNvPr id="9" name="Freeform 9"/>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sp>
        <p:sp>
          <p:nvSpPr>
            <p:cNvPr id="10" name="TextBox 10"/>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6</a:t>
              </a:r>
            </a:p>
          </p:txBody>
        </p:sp>
      </p:grpSp>
      <p:grpSp>
        <p:nvGrpSpPr>
          <p:cNvPr id="11" name="Group 11"/>
          <p:cNvGrpSpPr/>
          <p:nvPr/>
        </p:nvGrpSpPr>
        <p:grpSpPr>
          <a:xfrm>
            <a:off x="6972300" y="9534525"/>
            <a:ext cx="4806001" cy="547688"/>
            <a:chOff x="0" y="0"/>
            <a:chExt cx="6408001" cy="730250"/>
          </a:xfrm>
        </p:grpSpPr>
        <p:sp>
          <p:nvSpPr>
            <p:cNvPr id="12" name="Freeform 12"/>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2">
                <a:alphaModFix amt="0"/>
              </a:blip>
              <a:stretch>
                <a:fillRect t="-120982" b="-120982"/>
              </a:stretch>
            </a:blipFill>
          </p:spPr>
        </p:sp>
        <p:sp>
          <p:nvSpPr>
            <p:cNvPr id="13" name="TextBox 13"/>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id="14" name="Group 14"/>
          <p:cNvGrpSpPr/>
          <p:nvPr/>
        </p:nvGrpSpPr>
        <p:grpSpPr>
          <a:xfrm>
            <a:off x="475612" y="359321"/>
            <a:ext cx="1915887" cy="1249101"/>
            <a:chOff x="0" y="0"/>
            <a:chExt cx="2554516" cy="1665468"/>
          </a:xfrm>
        </p:grpSpPr>
        <p:sp>
          <p:nvSpPr>
            <p:cNvPr id="15" name="Freeform 15" descr="Your startup LOGO"/>
            <p:cNvSpPr/>
            <p:nvPr/>
          </p:nvSpPr>
          <p:spPr>
            <a:xfrm>
              <a:off x="0" y="0"/>
              <a:ext cx="2554478" cy="1665481"/>
            </a:xfrm>
            <a:custGeom>
              <a:avLst/>
              <a:gdLst/>
              <a:ahLst/>
              <a:cxnLst/>
              <a:rect l="l" t="t" r="r" b="b"/>
              <a:pathLst>
                <a:path w="2554478" h="1665481">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id="16" name="TextBox 16"/>
            <p:cNvSpPr txBox="1"/>
            <p:nvPr/>
          </p:nvSpPr>
          <p:spPr>
            <a:xfrm>
              <a:off x="0" y="-57150"/>
              <a:ext cx="2554516" cy="1722618"/>
            </a:xfrm>
            <a:prstGeom prst="rect">
              <a:avLst/>
            </a:prstGeom>
          </p:spPr>
          <p:txBody>
            <a:bodyPr lIns="50800" tIns="50800" rIns="50800" bIns="50800" rtlCol="0" anchor="ctr"/>
            <a:lstStyle/>
            <a:p>
              <a:pPr algn="ctr">
                <a:lnSpc>
                  <a:spcPts val="3240"/>
                </a:lnSpc>
              </a:pPr>
              <a:r>
                <a:rPr lang="en-US" sz="2700">
                  <a:solidFill>
                    <a:srgbClr val="000000"/>
                  </a:solidFill>
                  <a:latin typeface="Calibri (MS)"/>
                  <a:ea typeface="Calibri (MS)"/>
                  <a:cs typeface="Calibri (MS)"/>
                  <a:sym typeface="Calibri (MS)"/>
                </a:rPr>
                <a:t>Byte Force</a:t>
              </a:r>
            </a:p>
          </p:txBody>
        </p:sp>
      </p:grpSp>
      <p:grpSp>
        <p:nvGrpSpPr>
          <p:cNvPr id="17" name="Group 17"/>
          <p:cNvGrpSpPr/>
          <p:nvPr/>
        </p:nvGrpSpPr>
        <p:grpSpPr>
          <a:xfrm>
            <a:off x="14670129" y="2248"/>
            <a:ext cx="3374774" cy="1593504"/>
            <a:chOff x="0" y="0"/>
            <a:chExt cx="4499699" cy="2124672"/>
          </a:xfrm>
        </p:grpSpPr>
        <p:sp>
          <p:nvSpPr>
            <p:cNvPr id="18" name="Freeform 18"/>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3"/>
              <a:stretch>
                <a:fillRect b="1"/>
              </a:stretch>
            </a:blipFill>
          </p:spPr>
        </p:sp>
      </p:grpSp>
      <p:sp>
        <p:nvSpPr>
          <p:cNvPr id="19" name="TextBox 19"/>
          <p:cNvSpPr txBox="1"/>
          <p:nvPr/>
        </p:nvSpPr>
        <p:spPr>
          <a:xfrm>
            <a:off x="258393" y="1250765"/>
            <a:ext cx="18353306" cy="8281379"/>
          </a:xfrm>
          <a:prstGeom prst="rect">
            <a:avLst/>
          </a:prstGeom>
        </p:spPr>
        <p:txBody>
          <a:bodyPr lIns="0" tIns="0" rIns="0" bIns="0" rtlCol="0" anchor="t">
            <a:spAutoFit/>
          </a:bodyPr>
          <a:lstStyle/>
          <a:p>
            <a:pPr algn="l">
              <a:lnSpc>
                <a:spcPts val="2798"/>
              </a:lnSpc>
              <a:spcBef>
                <a:spcPct val="0"/>
              </a:spcBef>
            </a:pPr>
            <a:endParaRPr/>
          </a:p>
          <a:p>
            <a:pPr algn="l">
              <a:lnSpc>
                <a:spcPts val="2798"/>
              </a:lnSpc>
              <a:spcBef>
                <a:spcPct val="0"/>
              </a:spcBef>
            </a:pPr>
            <a:r>
              <a:rPr lang="en-US" sz="1998" b="1" u="none" strike="noStrike">
                <a:solidFill>
                  <a:srgbClr val="000000"/>
                </a:solidFill>
                <a:latin typeface="Canva Sans Bold"/>
                <a:ea typeface="Canva Sans Bold"/>
                <a:cs typeface="Canva Sans Bold"/>
                <a:sym typeface="Canva Sans Bold"/>
              </a:rPr>
              <a:t>1. Dementia &amp; Global Context</a:t>
            </a:r>
          </a:p>
          <a:p>
            <a:pPr marL="410484" lvl="1" indent="-205242" algn="l">
              <a:lnSpc>
                <a:spcPts val="2661"/>
              </a:lnSpc>
              <a:spcBef>
                <a:spcPct val="0"/>
              </a:spcBef>
              <a:buFont typeface="Arial"/>
              <a:buChar char="•"/>
            </a:pPr>
            <a:r>
              <a:rPr lang="en-US" sz="1901" u="none" strike="noStrike">
                <a:solidFill>
                  <a:srgbClr val="000000"/>
                </a:solidFill>
                <a:latin typeface="Canva Sans"/>
                <a:ea typeface="Canva Sans"/>
                <a:cs typeface="Canva Sans"/>
                <a:sym typeface="Canva Sans"/>
              </a:rPr>
              <a:t>World Health Organization (WHO) — Dementia Fact Sheet, 2026</a:t>
            </a:r>
          </a:p>
          <a:p>
            <a:pPr marL="410484" lvl="1" indent="-205242" algn="l">
              <a:lnSpc>
                <a:spcPts val="2661"/>
              </a:lnSpc>
              <a:spcBef>
                <a:spcPct val="0"/>
              </a:spcBef>
              <a:buFont typeface="Arial"/>
              <a:buChar char="•"/>
            </a:pPr>
            <a:r>
              <a:rPr lang="en-US" sz="1901" u="none" strike="noStrike">
                <a:solidFill>
                  <a:srgbClr val="000000"/>
                </a:solidFill>
                <a:latin typeface="Canva Sans"/>
                <a:ea typeface="Canva Sans"/>
                <a:cs typeface="Canva Sans"/>
                <a:sym typeface="Canva Sans"/>
              </a:rPr>
              <a:t> Provides evidence on dementia, its impact on memory, thinking, daily activities, independence and caregivers. </a:t>
            </a:r>
          </a:p>
          <a:p>
            <a:pPr marL="410484" lvl="1" indent="-205242" algn="l">
              <a:lnSpc>
                <a:spcPts val="2661"/>
              </a:lnSpc>
              <a:spcBef>
                <a:spcPct val="0"/>
              </a:spcBef>
              <a:buFont typeface="Arial"/>
              <a:buChar char="•"/>
            </a:pPr>
            <a:r>
              <a:rPr lang="en-US" sz="1901" u="none" strike="noStrike">
                <a:solidFill>
                  <a:srgbClr val="000000"/>
                </a:solidFill>
                <a:latin typeface="Canva Sans"/>
                <a:ea typeface="Canva Sans"/>
                <a:cs typeface="Canva Sans"/>
                <a:sym typeface="Canva Sans"/>
              </a:rPr>
              <a:t>WHO — Risk Reduction of Cognitive Decline and Dementia: Guidelines, 2nd Edition, 2026</a:t>
            </a:r>
          </a:p>
          <a:p>
            <a:pPr marL="410484" lvl="1" indent="-205242" algn="l">
              <a:lnSpc>
                <a:spcPts val="2661"/>
              </a:lnSpc>
              <a:spcBef>
                <a:spcPct val="0"/>
              </a:spcBef>
              <a:buFont typeface="Arial"/>
              <a:buChar char="•"/>
            </a:pPr>
            <a:r>
              <a:rPr lang="en-US" sz="1901" u="none" strike="noStrike">
                <a:solidFill>
                  <a:srgbClr val="000000"/>
                </a:solidFill>
                <a:latin typeface="Canva Sans"/>
                <a:ea typeface="Canva Sans"/>
                <a:cs typeface="Canva Sans"/>
                <a:sym typeface="Canva Sans"/>
              </a:rPr>
              <a:t> Provides updated evidence and recommendations related to cognitive training, cognitive stimulation and dementia risk reduction.</a:t>
            </a:r>
          </a:p>
          <a:p>
            <a:pPr algn="l">
              <a:lnSpc>
                <a:spcPts val="2525"/>
              </a:lnSpc>
              <a:spcBef>
                <a:spcPct val="0"/>
              </a:spcBef>
            </a:pPr>
            <a:endParaRPr lang="en-US" sz="1901" u="none" strike="noStrike">
              <a:solidFill>
                <a:srgbClr val="000000"/>
              </a:solidFill>
              <a:latin typeface="Canva Sans"/>
              <a:ea typeface="Canva Sans"/>
              <a:cs typeface="Canva Sans"/>
              <a:sym typeface="Canva Sans"/>
            </a:endParaRPr>
          </a:p>
          <a:p>
            <a:pPr algn="l">
              <a:lnSpc>
                <a:spcPts val="2798"/>
              </a:lnSpc>
              <a:spcBef>
                <a:spcPct val="0"/>
              </a:spcBef>
            </a:pPr>
            <a:r>
              <a:rPr lang="en-US" sz="1998" b="1" u="none" strike="noStrike">
                <a:solidFill>
                  <a:srgbClr val="000000"/>
                </a:solidFill>
                <a:latin typeface="Canva Sans Bold"/>
                <a:ea typeface="Canva Sans Bold"/>
                <a:cs typeface="Canva Sans Bold"/>
                <a:sym typeface="Canva Sans Bold"/>
              </a:rPr>
              <a:t>2. Cognitive Stimulation &amp; Dementia Care</a:t>
            </a:r>
          </a:p>
          <a:p>
            <a:pPr marL="410484" lvl="1" indent="-205242" algn="l">
              <a:lnSpc>
                <a:spcPts val="2661"/>
              </a:lnSpc>
              <a:spcBef>
                <a:spcPct val="0"/>
              </a:spcBef>
              <a:buFont typeface="Arial"/>
              <a:buChar char="•"/>
            </a:pPr>
            <a:r>
              <a:rPr lang="en-US" sz="1901" u="none" strike="noStrike">
                <a:solidFill>
                  <a:srgbClr val="000000"/>
                </a:solidFill>
                <a:latin typeface="Canva Sans"/>
                <a:ea typeface="Canva Sans"/>
                <a:cs typeface="Canva Sans"/>
                <a:sym typeface="Canva Sans"/>
              </a:rPr>
              <a:t>WHO mhGAP — Non-pharmacological Interventions for People Living with Dementia</a:t>
            </a:r>
          </a:p>
          <a:p>
            <a:pPr marL="410484" lvl="1" indent="-205242" algn="l">
              <a:lnSpc>
                <a:spcPts val="2661"/>
              </a:lnSpc>
              <a:spcBef>
                <a:spcPct val="0"/>
              </a:spcBef>
              <a:buFont typeface="Arial"/>
              <a:buChar char="•"/>
            </a:pPr>
            <a:r>
              <a:rPr lang="en-US" sz="1901" u="none" strike="noStrike">
                <a:solidFill>
                  <a:srgbClr val="000000"/>
                </a:solidFill>
                <a:latin typeface="Canva Sans"/>
                <a:ea typeface="Canva Sans"/>
                <a:cs typeface="Canva Sans"/>
                <a:sym typeface="Canva Sans"/>
              </a:rPr>
              <a:t> Supports consideration of cognitive stimulation therapy and cognitive training as non-pharmacological interventions. </a:t>
            </a:r>
          </a:p>
          <a:p>
            <a:pPr marL="410484" lvl="1" indent="-205242" algn="l">
              <a:lnSpc>
                <a:spcPts val="2661"/>
              </a:lnSpc>
              <a:spcBef>
                <a:spcPct val="0"/>
              </a:spcBef>
              <a:buFont typeface="Arial"/>
              <a:buChar char="•"/>
            </a:pPr>
            <a:r>
              <a:rPr lang="en-US" sz="1901" u="none" strike="noStrike">
                <a:solidFill>
                  <a:srgbClr val="000000"/>
                </a:solidFill>
                <a:latin typeface="Canva Sans"/>
                <a:ea typeface="Canva Sans"/>
                <a:cs typeface="Canva Sans"/>
                <a:sym typeface="Canva Sans"/>
              </a:rPr>
              <a:t>NICE Guideline NG97 — Dementia: Assessment, Management and Support for People Living with Dementia and Their Carers</a:t>
            </a:r>
          </a:p>
          <a:p>
            <a:pPr marL="410484" lvl="1" indent="-205242" algn="l">
              <a:lnSpc>
                <a:spcPts val="2661"/>
              </a:lnSpc>
              <a:spcBef>
                <a:spcPct val="0"/>
              </a:spcBef>
              <a:buFont typeface="Arial"/>
              <a:buChar char="•"/>
            </a:pPr>
            <a:r>
              <a:rPr lang="en-US" sz="1901" u="none" strike="noStrike">
                <a:solidFill>
                  <a:srgbClr val="000000"/>
                </a:solidFill>
                <a:latin typeface="Canva Sans"/>
                <a:ea typeface="Canva Sans"/>
                <a:cs typeface="Canva Sans"/>
                <a:sym typeface="Canva Sans"/>
              </a:rPr>
              <a:t> Recommends tailored activities and cognitive stimulation therapy for people living with mild-to-moderate dementia. </a:t>
            </a:r>
          </a:p>
          <a:p>
            <a:pPr algn="l">
              <a:lnSpc>
                <a:spcPts val="2525"/>
              </a:lnSpc>
              <a:spcBef>
                <a:spcPct val="0"/>
              </a:spcBef>
            </a:pPr>
            <a:endParaRPr lang="en-US" sz="1901" u="none" strike="noStrike">
              <a:solidFill>
                <a:srgbClr val="000000"/>
              </a:solidFill>
              <a:latin typeface="Canva Sans"/>
              <a:ea typeface="Canva Sans"/>
              <a:cs typeface="Canva Sans"/>
              <a:sym typeface="Canva Sans"/>
            </a:endParaRPr>
          </a:p>
          <a:p>
            <a:pPr algn="l">
              <a:lnSpc>
                <a:spcPts val="2798"/>
              </a:lnSpc>
              <a:spcBef>
                <a:spcPct val="0"/>
              </a:spcBef>
            </a:pPr>
            <a:r>
              <a:rPr lang="en-US" sz="1998" b="1" u="none" strike="noStrike">
                <a:solidFill>
                  <a:srgbClr val="000000"/>
                </a:solidFill>
                <a:latin typeface="Canva Sans Bold"/>
                <a:ea typeface="Canva Sans Bold"/>
                <a:cs typeface="Canva Sans Bold"/>
                <a:sym typeface="Canva Sans Bold"/>
              </a:rPr>
              <a:t>3. Digital Cognitive Support</a:t>
            </a:r>
          </a:p>
          <a:p>
            <a:pPr marL="410484" lvl="1" indent="-205242" algn="l">
              <a:lnSpc>
                <a:spcPts val="2661"/>
              </a:lnSpc>
              <a:spcBef>
                <a:spcPct val="0"/>
              </a:spcBef>
              <a:buFont typeface="Arial"/>
              <a:buChar char="•"/>
            </a:pPr>
            <a:r>
              <a:rPr lang="en-US" sz="1901" u="none" strike="noStrike">
                <a:solidFill>
                  <a:srgbClr val="000000"/>
                </a:solidFill>
                <a:latin typeface="Canva Sans"/>
                <a:ea typeface="Canva Sans"/>
                <a:cs typeface="Canva Sans"/>
                <a:sym typeface="Canva Sans"/>
              </a:rPr>
              <a:t>Online Cognitive Stimulation Therapy for Dementia in Brazil and India — International Journal of Geriatric Psychiatry / PubMed</a:t>
            </a:r>
          </a:p>
          <a:p>
            <a:pPr marL="410484" lvl="1" indent="-205242" algn="l">
              <a:lnSpc>
                <a:spcPts val="2661"/>
              </a:lnSpc>
              <a:spcBef>
                <a:spcPct val="0"/>
              </a:spcBef>
              <a:buFont typeface="Arial"/>
              <a:buChar char="•"/>
            </a:pPr>
            <a:r>
              <a:rPr lang="en-US" sz="1901" u="none" strike="noStrike">
                <a:solidFill>
                  <a:srgbClr val="000000"/>
                </a:solidFill>
                <a:latin typeface="Canva Sans"/>
                <a:ea typeface="Canva Sans"/>
                <a:cs typeface="Canva Sans"/>
                <a:sym typeface="Canva Sans"/>
              </a:rPr>
              <a:t> Examines the feasibility and acceptability of delivering cognitive stimulation therapy online, including implementation experience in India. </a:t>
            </a:r>
          </a:p>
          <a:p>
            <a:pPr marL="410484" lvl="1" indent="-205242" algn="l">
              <a:lnSpc>
                <a:spcPts val="2661"/>
              </a:lnSpc>
              <a:spcBef>
                <a:spcPct val="0"/>
              </a:spcBef>
              <a:buFont typeface="Arial"/>
              <a:buChar char="•"/>
            </a:pPr>
            <a:r>
              <a:rPr lang="en-US" sz="1901" u="none" strike="noStrike">
                <a:solidFill>
                  <a:srgbClr val="000000"/>
                </a:solidFill>
                <a:latin typeface="Canva Sans"/>
                <a:ea typeface="Canva Sans"/>
                <a:cs typeface="Canva Sans"/>
                <a:sym typeface="Canva Sans"/>
              </a:rPr>
              <a:t>WHO Be He@lthy, Be Mobile — mDementia</a:t>
            </a:r>
          </a:p>
          <a:p>
            <a:pPr marL="410484" lvl="1" indent="-205242" algn="l">
              <a:lnSpc>
                <a:spcPts val="2661"/>
              </a:lnSpc>
              <a:spcBef>
                <a:spcPct val="0"/>
              </a:spcBef>
              <a:buFont typeface="Arial"/>
              <a:buChar char="•"/>
            </a:pPr>
            <a:r>
              <a:rPr lang="en-US" sz="1901" u="none" strike="noStrike">
                <a:solidFill>
                  <a:srgbClr val="000000"/>
                </a:solidFill>
                <a:latin typeface="Canva Sans"/>
                <a:ea typeface="Canva Sans"/>
                <a:cs typeface="Canva Sans"/>
                <a:sym typeface="Canva Sans"/>
              </a:rPr>
              <a:t> Demonstrates the use of mobile technologies to provide dementia-related health information and support carers. </a:t>
            </a:r>
          </a:p>
          <a:p>
            <a:pPr algn="l">
              <a:lnSpc>
                <a:spcPts val="2525"/>
              </a:lnSpc>
              <a:spcBef>
                <a:spcPct val="0"/>
              </a:spcBef>
            </a:pPr>
            <a:endParaRPr lang="en-US" sz="1901" u="none" strike="noStrike">
              <a:solidFill>
                <a:srgbClr val="000000"/>
              </a:solidFill>
              <a:latin typeface="Canva Sans"/>
              <a:ea typeface="Canva Sans"/>
              <a:cs typeface="Canva Sans"/>
              <a:sym typeface="Canva Sans"/>
            </a:endParaRPr>
          </a:p>
          <a:p>
            <a:pPr algn="l">
              <a:lnSpc>
                <a:spcPts val="2798"/>
              </a:lnSpc>
              <a:spcBef>
                <a:spcPct val="0"/>
              </a:spcBef>
            </a:pPr>
            <a:r>
              <a:rPr lang="en-US" sz="1998" b="1" u="none" strike="noStrike">
                <a:solidFill>
                  <a:srgbClr val="000000"/>
                </a:solidFill>
                <a:latin typeface="Canva Sans Bold"/>
                <a:ea typeface="Canva Sans Bold"/>
                <a:cs typeface="Canva Sans Bold"/>
                <a:sym typeface="Canva Sans Bold"/>
              </a:rPr>
              <a:t>4. Technical References</a:t>
            </a:r>
          </a:p>
          <a:p>
            <a:pPr marL="389461" lvl="1" indent="-194731" algn="l">
              <a:lnSpc>
                <a:spcPts val="2525"/>
              </a:lnSpc>
              <a:spcBef>
                <a:spcPct val="0"/>
              </a:spcBef>
              <a:buFont typeface="Arial"/>
              <a:buChar char="•"/>
            </a:pPr>
            <a:r>
              <a:rPr lang="en-US" sz="1803" u="none" strike="noStrike">
                <a:solidFill>
                  <a:srgbClr val="000000"/>
                </a:solidFill>
                <a:latin typeface="Canva Sans"/>
                <a:ea typeface="Canva Sans"/>
                <a:cs typeface="Canva Sans"/>
                <a:sym typeface="Canva Sans"/>
              </a:rPr>
              <a:t>XGBoost — Machine-learning framework used for adaptive difficulty prediction.</a:t>
            </a:r>
          </a:p>
          <a:p>
            <a:pPr marL="389461" lvl="1" indent="-194731" algn="l">
              <a:lnSpc>
                <a:spcPts val="2525"/>
              </a:lnSpc>
              <a:spcBef>
                <a:spcPct val="0"/>
              </a:spcBef>
              <a:buFont typeface="Arial"/>
              <a:buChar char="•"/>
            </a:pPr>
            <a:r>
              <a:rPr lang="en-US" sz="1803" u="none" strike="noStrike">
                <a:solidFill>
                  <a:srgbClr val="000000"/>
                </a:solidFill>
                <a:latin typeface="Canva Sans"/>
                <a:ea typeface="Canva Sans"/>
                <a:cs typeface="Canva Sans"/>
                <a:sym typeface="Canva Sans"/>
              </a:rPr>
              <a:t>scikit-learn — Data preprocessing and ML utilities.</a:t>
            </a:r>
          </a:p>
          <a:p>
            <a:pPr marL="389461" lvl="1" indent="-194731" algn="l">
              <a:lnSpc>
                <a:spcPts val="2525"/>
              </a:lnSpc>
              <a:spcBef>
                <a:spcPct val="0"/>
              </a:spcBef>
              <a:buFont typeface="Arial"/>
              <a:buChar char="•"/>
            </a:pPr>
            <a:r>
              <a:rPr lang="en-US" sz="1803" u="none" strike="noStrike">
                <a:solidFill>
                  <a:srgbClr val="000000"/>
                </a:solidFill>
                <a:latin typeface="Canva Sans"/>
                <a:ea typeface="Canva Sans"/>
                <a:cs typeface="Canva Sans"/>
                <a:sym typeface="Canva Sans"/>
              </a:rPr>
              <a:t>FastAPI — Python backend/API framework.</a:t>
            </a:r>
          </a:p>
          <a:p>
            <a:pPr marL="389461" lvl="1" indent="-194731" algn="l">
              <a:lnSpc>
                <a:spcPts val="2525"/>
              </a:lnSpc>
              <a:spcBef>
                <a:spcPct val="0"/>
              </a:spcBef>
              <a:buFont typeface="Arial"/>
              <a:buChar char="•"/>
            </a:pPr>
            <a:r>
              <a:rPr lang="en-US" sz="1803" u="none" strike="noStrike">
                <a:solidFill>
                  <a:srgbClr val="000000"/>
                </a:solidFill>
                <a:latin typeface="Canva Sans"/>
                <a:ea typeface="Canva Sans"/>
                <a:cs typeface="Canva Sans"/>
                <a:sym typeface="Canva Sans"/>
              </a:rPr>
              <a:t>Next.js / React / TypeScript — Web application development.</a:t>
            </a:r>
          </a:p>
          <a:p>
            <a:pPr marL="389461" lvl="1" indent="-194731" algn="l">
              <a:lnSpc>
                <a:spcPts val="2525"/>
              </a:lnSpc>
              <a:spcBef>
                <a:spcPct val="0"/>
              </a:spcBef>
              <a:buFont typeface="Arial"/>
              <a:buChar char="•"/>
            </a:pPr>
            <a:r>
              <a:rPr lang="en-US" sz="1803" u="none" strike="noStrike">
                <a:solidFill>
                  <a:srgbClr val="000000"/>
                </a:solidFill>
                <a:latin typeface="Canva Sans"/>
                <a:ea typeface="Canva Sans"/>
                <a:cs typeface="Canva Sans"/>
                <a:sym typeface="Canva Sans"/>
              </a:rPr>
              <a:t>PostgreSQL — Patient, game-performance and reminder data management.</a:t>
            </a:r>
          </a:p>
        </p:txBody>
      </p:sp>
      <p:grpSp>
        <p:nvGrpSpPr>
          <p:cNvPr id="20" name="Group 20"/>
          <p:cNvGrpSpPr/>
          <p:nvPr/>
        </p:nvGrpSpPr>
        <p:grpSpPr>
          <a:xfrm>
            <a:off x="0" y="1643063"/>
            <a:ext cx="18288000" cy="7891462"/>
            <a:chOff x="0" y="0"/>
            <a:chExt cx="4816593" cy="2078410"/>
          </a:xfrm>
        </p:grpSpPr>
        <p:sp>
          <p:nvSpPr>
            <p:cNvPr id="21" name="Freeform 21"/>
            <p:cNvSpPr/>
            <p:nvPr/>
          </p:nvSpPr>
          <p:spPr>
            <a:xfrm>
              <a:off x="0" y="0"/>
              <a:ext cx="4816592" cy="2078410"/>
            </a:xfrm>
            <a:custGeom>
              <a:avLst/>
              <a:gdLst/>
              <a:ahLst/>
              <a:cxnLst/>
              <a:rect l="l" t="t" r="r" b="b"/>
              <a:pathLst>
                <a:path w="4816592" h="2078410">
                  <a:moveTo>
                    <a:pt x="0" y="0"/>
                  </a:moveTo>
                  <a:lnTo>
                    <a:pt x="4816592" y="0"/>
                  </a:lnTo>
                  <a:lnTo>
                    <a:pt x="4816592" y="2078410"/>
                  </a:lnTo>
                  <a:lnTo>
                    <a:pt x="0" y="2078410"/>
                  </a:lnTo>
                  <a:close/>
                </a:path>
              </a:pathLst>
            </a:custGeom>
            <a:ln w="19050" cap="sq">
              <a:solidFill>
                <a:srgbClr val="000000"/>
              </a:solidFill>
              <a:prstDash val="solid"/>
              <a:miter/>
            </a:ln>
          </p:spPr>
        </p:sp>
        <p:sp>
          <p:nvSpPr>
            <p:cNvPr id="22" name="TextBox 22"/>
            <p:cNvSpPr txBox="1"/>
            <p:nvPr/>
          </p:nvSpPr>
          <p:spPr>
            <a:xfrm>
              <a:off x="0" y="-19050"/>
              <a:ext cx="4816593" cy="2097460"/>
            </a:xfrm>
            <a:prstGeom prst="rect">
              <a:avLst/>
            </a:prstGeom>
          </p:spPr>
          <p:txBody>
            <a:bodyPr lIns="50800" tIns="50800" rIns="50800" bIns="50800" rtlCol="0" anchor="ctr"/>
            <a:lstStyle/>
            <a:p>
              <a:pPr algn="ctr">
                <a:lnSpc>
                  <a:spcPts val="2400"/>
                </a:lnSpc>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13106400" y="9534525"/>
            <a:ext cx="4267200" cy="547688"/>
            <a:chOff x="0" y="0"/>
            <a:chExt cx="5689600" cy="730250"/>
          </a:xfrm>
        </p:grpSpPr>
        <p:sp>
          <p:nvSpPr>
            <p:cNvPr id="5" name="Freeform 5"/>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sp>
        <p:sp>
          <p:nvSpPr>
            <p:cNvPr id="6" name="TextBox 6"/>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7</a:t>
              </a:r>
            </a:p>
          </p:txBody>
        </p:sp>
      </p:grpSp>
      <p:grpSp>
        <p:nvGrpSpPr>
          <p:cNvPr id="7" name="Group 7"/>
          <p:cNvGrpSpPr/>
          <p:nvPr/>
        </p:nvGrpSpPr>
        <p:grpSpPr>
          <a:xfrm>
            <a:off x="6972300" y="9534525"/>
            <a:ext cx="4806001" cy="547688"/>
            <a:chOff x="0" y="0"/>
            <a:chExt cx="6408001" cy="730250"/>
          </a:xfrm>
        </p:grpSpPr>
        <p:sp>
          <p:nvSpPr>
            <p:cNvPr id="8" name="Freeform 8"/>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2">
                <a:alphaModFix amt="0"/>
              </a:blip>
              <a:stretch>
                <a:fillRect t="-120982" b="-120982"/>
              </a:stretch>
            </a:blipFill>
          </p:spPr>
        </p:sp>
        <p:sp>
          <p:nvSpPr>
            <p:cNvPr id="9" name="TextBox 9"/>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id="10" name="Group 10"/>
          <p:cNvGrpSpPr/>
          <p:nvPr/>
        </p:nvGrpSpPr>
        <p:grpSpPr>
          <a:xfrm>
            <a:off x="-28575" y="2657970"/>
            <a:ext cx="18345150" cy="6535950"/>
            <a:chOff x="0" y="0"/>
            <a:chExt cx="24460200" cy="8714600"/>
          </a:xfrm>
        </p:grpSpPr>
        <p:sp>
          <p:nvSpPr>
            <p:cNvPr id="11" name="Freeform 11"/>
            <p:cNvSpPr/>
            <p:nvPr/>
          </p:nvSpPr>
          <p:spPr>
            <a:xfrm>
              <a:off x="0" y="0"/>
              <a:ext cx="24460200" cy="8714613"/>
            </a:xfrm>
            <a:custGeom>
              <a:avLst/>
              <a:gdLst/>
              <a:ahLst/>
              <a:cxnLst/>
              <a:rect l="l" t="t" r="r" b="b"/>
              <a:pathLst>
                <a:path w="24460200" h="8714613">
                  <a:moveTo>
                    <a:pt x="1452499" y="0"/>
                  </a:moveTo>
                  <a:lnTo>
                    <a:pt x="24460200" y="0"/>
                  </a:lnTo>
                  <a:lnTo>
                    <a:pt x="24460200" y="7262114"/>
                  </a:lnTo>
                  <a:cubicBezTo>
                    <a:pt x="24460200" y="8064246"/>
                    <a:pt x="23809961" y="8714613"/>
                    <a:pt x="23007701" y="8714613"/>
                  </a:cubicBezTo>
                  <a:lnTo>
                    <a:pt x="0" y="8714613"/>
                  </a:lnTo>
                  <a:lnTo>
                    <a:pt x="0" y="1452499"/>
                  </a:lnTo>
                  <a:cubicBezTo>
                    <a:pt x="0" y="650240"/>
                    <a:pt x="650240" y="0"/>
                    <a:pt x="1452499" y="0"/>
                  </a:cubicBezTo>
                  <a:close/>
                </a:path>
              </a:pathLst>
            </a:custGeom>
            <a:solidFill>
              <a:srgbClr val="DCE6F2"/>
            </a:solidFill>
            <a:ln w="57150" cap="sq">
              <a:solidFill>
                <a:srgbClr val="4A7EBB"/>
              </a:solidFill>
              <a:prstDash val="solid"/>
              <a:miter/>
            </a:ln>
          </p:spPr>
        </p:sp>
      </p:grpSp>
      <p:sp>
        <p:nvSpPr>
          <p:cNvPr id="12" name="TextBox 12"/>
          <p:cNvSpPr txBox="1"/>
          <p:nvPr/>
        </p:nvSpPr>
        <p:spPr>
          <a:xfrm>
            <a:off x="643176" y="2928404"/>
            <a:ext cx="17464249" cy="6004608"/>
          </a:xfrm>
          <a:prstGeom prst="rect">
            <a:avLst/>
          </a:prstGeom>
        </p:spPr>
        <p:txBody>
          <a:bodyPr lIns="0" tIns="0" rIns="0" bIns="0" rtlCol="0" anchor="t">
            <a:spAutoFit/>
          </a:bodyPr>
          <a:lstStyle/>
          <a:p>
            <a:pPr marL="488632" lvl="1" indent="-244316" algn="just">
              <a:lnSpc>
                <a:spcPts val="2916"/>
              </a:lnSpc>
              <a:buAutoNum type="arabicPeriod"/>
            </a:pPr>
            <a:r>
              <a:rPr lang="en-US" sz="2700" b="1">
                <a:solidFill>
                  <a:srgbClr val="000000"/>
                </a:solidFill>
                <a:latin typeface="Arial Bold"/>
                <a:ea typeface="Arial Bold"/>
                <a:cs typeface="Arial Bold"/>
                <a:sym typeface="Arial Bold"/>
              </a:rPr>
              <a:t>Kindly keep the maximum slides limit up to six </a:t>
            </a:r>
            <a:r>
              <a:rPr lang="en-US" sz="2700" b="1">
                <a:solidFill>
                  <a:srgbClr val="C00000"/>
                </a:solidFill>
                <a:latin typeface="Arial Bold"/>
                <a:ea typeface="Arial Bold"/>
                <a:cs typeface="Arial Bold"/>
                <a:sym typeface="Arial Bold"/>
              </a:rPr>
              <a:t>(6). </a:t>
            </a:r>
            <a:r>
              <a:rPr lang="en-US" sz="2700" b="1">
                <a:solidFill>
                  <a:srgbClr val="000000"/>
                </a:solidFill>
                <a:latin typeface="Arial Bold"/>
                <a:ea typeface="Arial Bold"/>
                <a:cs typeface="Arial Bold"/>
                <a:sym typeface="Arial Bold"/>
              </a:rPr>
              <a:t>( Including the title slide) </a:t>
            </a:r>
          </a:p>
          <a:p>
            <a:pPr marL="488632" lvl="1" indent="-244316" algn="just">
              <a:lnSpc>
                <a:spcPts val="2916"/>
              </a:lnSpc>
              <a:buAutoNum type="arabicPeriod"/>
            </a:pPr>
            <a:r>
              <a:rPr lang="en-US" sz="2700" b="1">
                <a:solidFill>
                  <a:srgbClr val="000000"/>
                </a:solidFill>
                <a:latin typeface="Arial Bold"/>
                <a:ea typeface="Arial Bold"/>
                <a:cs typeface="Arial Bold"/>
                <a:sym typeface="Arial Bold"/>
              </a:rPr>
              <a:t>Try to avoid paragraphs and post your idea in points /diagrams / Infographics /pictures </a:t>
            </a:r>
          </a:p>
          <a:p>
            <a:pPr marL="488632" lvl="1" indent="-244316" algn="just">
              <a:lnSpc>
                <a:spcPts val="2916"/>
              </a:lnSpc>
              <a:buAutoNum type="arabicPeriod"/>
            </a:pPr>
            <a:r>
              <a:rPr lang="en-US" sz="2700" b="1">
                <a:solidFill>
                  <a:srgbClr val="000000"/>
                </a:solidFill>
                <a:latin typeface="Arial Bold"/>
                <a:ea typeface="Arial Bold"/>
                <a:cs typeface="Arial Bold"/>
                <a:sym typeface="Arial Bold"/>
              </a:rPr>
              <a:t>Keep your explanation precise and easy to understand</a:t>
            </a:r>
          </a:p>
          <a:p>
            <a:pPr marL="488632" lvl="1" indent="-244316" algn="just">
              <a:lnSpc>
                <a:spcPts val="2916"/>
              </a:lnSpc>
              <a:buAutoNum type="arabicPeriod"/>
            </a:pPr>
            <a:r>
              <a:rPr lang="en-US" sz="2700" b="1">
                <a:solidFill>
                  <a:srgbClr val="000000"/>
                </a:solidFill>
                <a:latin typeface="Arial Bold"/>
                <a:ea typeface="Arial Bold"/>
                <a:cs typeface="Arial Bold"/>
                <a:sym typeface="Arial Bold"/>
              </a:rPr>
              <a:t>Idea should be unique and novel. </a:t>
            </a:r>
          </a:p>
          <a:p>
            <a:pPr marL="488632" lvl="1" indent="-244316" algn="just">
              <a:lnSpc>
                <a:spcPts val="2916"/>
              </a:lnSpc>
              <a:buAutoNum type="arabicPeriod"/>
            </a:pPr>
            <a:r>
              <a:rPr lang="en-US" sz="2700" b="1">
                <a:solidFill>
                  <a:srgbClr val="000000"/>
                </a:solidFill>
                <a:latin typeface="Arial Bold"/>
                <a:ea typeface="Arial Bold"/>
                <a:cs typeface="Arial Bold"/>
                <a:sym typeface="Arial Bold"/>
              </a:rPr>
              <a:t>You can only use provided template for making the PPT without changing the idea details pointers (mentioned in previous slides).</a:t>
            </a:r>
          </a:p>
          <a:p>
            <a:pPr marL="488632" lvl="1" indent="-244316" algn="just">
              <a:lnSpc>
                <a:spcPts val="2916"/>
              </a:lnSpc>
              <a:buAutoNum type="arabicPeriod"/>
            </a:pPr>
            <a:r>
              <a:rPr lang="en-US" sz="2700" b="1">
                <a:solidFill>
                  <a:srgbClr val="000000"/>
                </a:solidFill>
                <a:latin typeface="Arial Bold"/>
                <a:ea typeface="Arial Bold"/>
                <a:cs typeface="Arial Bold"/>
                <a:sym typeface="Arial Bold"/>
              </a:rPr>
              <a:t>You need to save the file in PDF and upload the same on portal. No PPT, Word Doc or any other format will be supported.</a:t>
            </a:r>
          </a:p>
          <a:p>
            <a:pPr marL="488632" lvl="1" indent="-244316" algn="just">
              <a:lnSpc>
                <a:spcPts val="2916"/>
              </a:lnSpc>
            </a:pPr>
            <a:endParaRPr lang="en-US" sz="2700" b="1">
              <a:solidFill>
                <a:srgbClr val="000000"/>
              </a:solidFill>
              <a:latin typeface="Arial Bold"/>
              <a:ea typeface="Arial Bold"/>
              <a:cs typeface="Arial Bold"/>
              <a:sym typeface="Arial Bold"/>
            </a:endParaRPr>
          </a:p>
          <a:p>
            <a:pPr marL="488632" lvl="1" indent="-244316" algn="just">
              <a:lnSpc>
                <a:spcPts val="2916"/>
              </a:lnSpc>
            </a:pPr>
            <a:r>
              <a:rPr lang="en-US" sz="2700" b="1">
                <a:solidFill>
                  <a:srgbClr val="C00000"/>
                </a:solidFill>
                <a:latin typeface="Arial Bold"/>
                <a:ea typeface="Arial Bold"/>
                <a:cs typeface="Arial Bold"/>
                <a:sym typeface="Arial Bold"/>
              </a:rPr>
              <a:t>Note - You can delete this slide (Important Pointers) when you upload the details of your idea on SIH portal.</a:t>
            </a:r>
          </a:p>
          <a:p>
            <a:pPr marL="488632" lvl="1" indent="-244316" algn="just">
              <a:lnSpc>
                <a:spcPts val="2916"/>
              </a:lnSpc>
            </a:pPr>
            <a:endParaRPr lang="en-US" sz="2700" b="1">
              <a:solidFill>
                <a:srgbClr val="C00000"/>
              </a:solidFill>
              <a:latin typeface="Arial Bold"/>
              <a:ea typeface="Arial Bold"/>
              <a:cs typeface="Arial Bold"/>
              <a:sym typeface="Arial Bold"/>
            </a:endParaRPr>
          </a:p>
        </p:txBody>
      </p:sp>
      <p:sp>
        <p:nvSpPr>
          <p:cNvPr id="13" name="TextBox 13"/>
          <p:cNvSpPr txBox="1"/>
          <p:nvPr/>
        </p:nvSpPr>
        <p:spPr>
          <a:xfrm>
            <a:off x="2181501" y="177746"/>
            <a:ext cx="12432925" cy="906628"/>
          </a:xfrm>
          <a:prstGeom prst="rect">
            <a:avLst/>
          </a:prstGeom>
        </p:spPr>
        <p:txBody>
          <a:bodyPr lIns="0" tIns="0" rIns="0" bIns="0" rtlCol="0" anchor="t">
            <a:spAutoFit/>
          </a:bodyPr>
          <a:lstStyle/>
          <a:p>
            <a:pPr algn="ctr">
              <a:lnSpc>
                <a:spcPts val="6480"/>
              </a:lnSpc>
            </a:pPr>
            <a:r>
              <a:rPr lang="en-US" sz="5400" b="1">
                <a:solidFill>
                  <a:srgbClr val="000000"/>
                </a:solidFill>
                <a:latin typeface="Times New Roman Bold"/>
                <a:ea typeface="Times New Roman Bold"/>
                <a:cs typeface="Times New Roman Bold"/>
                <a:sym typeface="Times New Roman Bold"/>
              </a:rPr>
              <a:t>IMPORTANT INSTRUCTIONS</a:t>
            </a:r>
          </a:p>
        </p:txBody>
      </p:sp>
      <p:sp>
        <p:nvSpPr>
          <p:cNvPr id="14" name="TextBox 14"/>
          <p:cNvSpPr txBox="1"/>
          <p:nvPr/>
        </p:nvSpPr>
        <p:spPr>
          <a:xfrm>
            <a:off x="994953" y="1828095"/>
            <a:ext cx="14153607" cy="411480"/>
          </a:xfrm>
          <a:prstGeom prst="rect">
            <a:avLst/>
          </a:prstGeom>
        </p:spPr>
        <p:txBody>
          <a:bodyPr lIns="0" tIns="0" rIns="0" bIns="0" rtlCol="0" anchor="t">
            <a:spAutoFit/>
          </a:bodyPr>
          <a:lstStyle/>
          <a:p>
            <a:pPr algn="just">
              <a:lnSpc>
                <a:spcPts val="2916"/>
              </a:lnSpc>
            </a:pPr>
            <a:r>
              <a:rPr lang="en-US" sz="2700" b="1">
                <a:solidFill>
                  <a:srgbClr val="000000"/>
                </a:solidFill>
                <a:latin typeface="Arial Bold"/>
                <a:ea typeface="Arial Bold"/>
                <a:cs typeface="Arial Bold"/>
                <a:sym typeface="Arial Bold"/>
              </a:rPr>
              <a:t>Please ensure below pointers are met while submitting the Idea PPT:</a:t>
            </a:r>
          </a:p>
        </p:txBody>
      </p:sp>
      <p:grpSp>
        <p:nvGrpSpPr>
          <p:cNvPr id="15" name="Group 15"/>
          <p:cNvGrpSpPr/>
          <p:nvPr/>
        </p:nvGrpSpPr>
        <p:grpSpPr>
          <a:xfrm>
            <a:off x="14670129" y="2248"/>
            <a:ext cx="3374774" cy="1593504"/>
            <a:chOff x="0" y="0"/>
            <a:chExt cx="4499699" cy="2124672"/>
          </a:xfrm>
        </p:grpSpPr>
        <p:sp>
          <p:nvSpPr>
            <p:cNvPr id="16" name="Freeform 16"/>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3"/>
              <a:stretch>
                <a:fillRect b="1"/>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2015</Words>
  <Application>Microsoft Office PowerPoint</Application>
  <PresentationFormat>Custom</PresentationFormat>
  <Paragraphs>205</Paragraphs>
  <Slides>7</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vt:i4>
      </vt:variant>
    </vt:vector>
  </HeadingPairs>
  <TitlesOfParts>
    <vt:vector size="19" baseType="lpstr">
      <vt:lpstr>Arimo</vt:lpstr>
      <vt:lpstr>Arial Bold</vt:lpstr>
      <vt:lpstr>Canva Sans</vt:lpstr>
      <vt:lpstr>Arimo Bold</vt:lpstr>
      <vt:lpstr>Times New Roman Bold</vt:lpstr>
      <vt:lpstr>Arial</vt:lpstr>
      <vt:lpstr>Times New Roman</vt:lpstr>
      <vt:lpstr>Calibri (MS)</vt:lpstr>
      <vt:lpstr>Garamond Bold</vt:lpstr>
      <vt:lpstr>Canva Sans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–SIH26003 Problem Statement Title- Theme- PS Category- Software/Hardware Team ID- Team Name (Registered on portal)</dc:title>
  <dc:creator>Kaushika</dc:creator>
  <cp:lastModifiedBy>Kaushika R</cp:lastModifiedBy>
  <cp:revision>2</cp:revision>
  <dcterms:created xsi:type="dcterms:W3CDTF">2006-08-16T00:00:00Z</dcterms:created>
  <dcterms:modified xsi:type="dcterms:W3CDTF">2026-09-14T08:50:08Z</dcterms:modified>
  <dc:identifier>DAHVD5-RIJg</dc:identifier>
</cp:coreProperties>
</file>